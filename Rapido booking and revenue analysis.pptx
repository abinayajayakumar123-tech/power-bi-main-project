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3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4.jpeg"/><Relationship Id="rId7" Type="http://schemas.openxmlformats.org/officeDocument/2006/relationships/image" Target="../media/image23.sv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svg"/><Relationship Id="rId10" Type="http://schemas.openxmlformats.org/officeDocument/2006/relationships/image" Target="../media/image26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tmp"/><Relationship Id="rId4" Type="http://schemas.openxmlformats.org/officeDocument/2006/relationships/image" Target="../media/image30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tmp"/><Relationship Id="rId4" Type="http://schemas.openxmlformats.org/officeDocument/2006/relationships/image" Target="../media/image4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tmp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4662488" y="-926753"/>
            <a:ext cx="5305425" cy="5305425"/>
          </a:xfrm>
          <a:prstGeom prst="ellipse">
            <a:avLst/>
          </a:prstGeom>
          <a:ln w="4763">
            <a:solidFill>
              <a:srgbClr val="F7C948">
                <a:alpha val="2000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5485433" y="-618158"/>
            <a:ext cx="3933825" cy="3933825"/>
          </a:xfrm>
          <a:prstGeom prst="ellipse">
            <a:avLst/>
          </a:prstGeom>
          <a:ln w="4763">
            <a:solidFill>
              <a:srgbClr val="F7C948">
                <a:alpha val="3330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5029200" y="4114800"/>
            <a:ext cx="4114800" cy="102870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8" name="Shape 3"/>
          <p:cNvSpPr/>
          <p:nvPr/>
        </p:nvSpPr>
        <p:spPr>
          <a:xfrm>
            <a:off x="640966" y="563277"/>
            <a:ext cx="66675" cy="66675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9" name="Text 4"/>
          <p:cNvSpPr/>
          <p:nvPr/>
        </p:nvSpPr>
        <p:spPr>
          <a:xfrm>
            <a:off x="799951" y="519112"/>
            <a:ext cx="3746168" cy="15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73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ANALYST PROJECT PRESENTATION</a:t>
            </a:r>
            <a:endParaRPr lang="en-US" sz="860" dirty="0"/>
          </a:p>
        </p:txBody>
      </p:sp>
      <p:sp>
        <p:nvSpPr>
          <p:cNvPr id="10" name="Text 5"/>
          <p:cNvSpPr/>
          <p:nvPr/>
        </p:nvSpPr>
        <p:spPr>
          <a:xfrm>
            <a:off x="640035" y="1128713"/>
            <a:ext cx="2330306" cy="895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266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RAPIDO</a:t>
            </a:r>
            <a:endParaRPr lang="en-US" sz="5900" dirty="0"/>
          </a:p>
        </p:txBody>
      </p:sp>
      <p:sp>
        <p:nvSpPr>
          <p:cNvPr id="11" name="Text 6"/>
          <p:cNvSpPr/>
          <p:nvPr/>
        </p:nvSpPr>
        <p:spPr>
          <a:xfrm>
            <a:off x="640035" y="1713533"/>
            <a:ext cx="4601431" cy="8953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266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RIDE ANALYSIS</a:t>
            </a:r>
            <a:endParaRPr lang="en-US" sz="5900" dirty="0"/>
          </a:p>
        </p:txBody>
      </p:sp>
      <p:sp>
        <p:nvSpPr>
          <p:cNvPr id="12" name="Text 7"/>
          <p:cNvSpPr/>
          <p:nvPr/>
        </p:nvSpPr>
        <p:spPr>
          <a:xfrm>
            <a:off x="640035" y="2670721"/>
            <a:ext cx="3539922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550" b="1" kern="0" spc="3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BI Dashboard Project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54484" y="3418136"/>
            <a:ext cx="1664553" cy="15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04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BY: ABINAYA J</a:t>
            </a:r>
            <a:endParaRPr lang="en-US" sz="860" dirty="0"/>
          </a:p>
        </p:txBody>
      </p:sp>
      <p:sp>
        <p:nvSpPr>
          <p:cNvPr id="14" name="Text 9"/>
          <p:cNvSpPr/>
          <p:nvPr/>
        </p:nvSpPr>
        <p:spPr>
          <a:xfrm>
            <a:off x="2329532" y="3418136"/>
            <a:ext cx="1568589" cy="15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04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 + POWER BI</a:t>
            </a:r>
            <a:endParaRPr lang="en-US" sz="860" dirty="0"/>
          </a:p>
        </p:txBody>
      </p:sp>
      <p:sp>
        <p:nvSpPr>
          <p:cNvPr id="15" name="Text 10"/>
          <p:cNvSpPr/>
          <p:nvPr/>
        </p:nvSpPr>
        <p:spPr>
          <a:xfrm>
            <a:off x="6826367" y="4234160"/>
            <a:ext cx="388672" cy="361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38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27</a:t>
            </a:r>
            <a:endParaRPr lang="en-US" sz="2380" dirty="0"/>
          </a:p>
        </p:txBody>
      </p:sp>
      <p:sp>
        <p:nvSpPr>
          <p:cNvPr id="16" name="Text 11"/>
          <p:cNvSpPr/>
          <p:nvPr/>
        </p:nvSpPr>
        <p:spPr>
          <a:xfrm>
            <a:off x="6052170" y="4599682"/>
            <a:ext cx="1162869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5"/>
              </a:spcBef>
              <a:buNone/>
            </a:pPr>
            <a:r>
              <a:rPr lang="en-US" sz="720" b="1" kern="0" spc="8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SLIDE ANALYSIS</a:t>
            </a:r>
            <a:endParaRPr lang="en-US" sz="720" dirty="0"/>
          </a:p>
        </p:txBody>
      </p:sp>
      <p:sp>
        <p:nvSpPr>
          <p:cNvPr id="17" name="Shape 12"/>
          <p:cNvSpPr/>
          <p:nvPr/>
        </p:nvSpPr>
        <p:spPr>
          <a:xfrm>
            <a:off x="7397874" y="4422986"/>
            <a:ext cx="4763" cy="309562"/>
          </a:xfrm>
          <a:prstGeom prst="rect">
            <a:avLst/>
          </a:prstGeom>
          <a:solidFill>
            <a:srgbClr val="11130F">
              <a:alpha val="33300"/>
            </a:srgbClr>
          </a:solidFill>
        </p:spPr>
      </p:sp>
      <p:sp>
        <p:nvSpPr>
          <p:cNvPr id="18" name="Text 13"/>
          <p:cNvSpPr/>
          <p:nvPr/>
        </p:nvSpPr>
        <p:spPr>
          <a:xfrm>
            <a:off x="7252774" y="4462537"/>
            <a:ext cx="1251191" cy="2609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720" b="1" kern="0" spc="8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ANALYSIS</a:t>
            </a:r>
            <a:endParaRPr lang="en-US" sz="720" dirty="0"/>
          </a:p>
          <a:p>
            <a:pPr marL="0" indent="0" algn="r">
              <a:lnSpc>
                <a:spcPts val="1080"/>
              </a:lnSpc>
              <a:buNone/>
            </a:pPr>
            <a:r>
              <a:rPr lang="en-US" sz="720" b="1" kern="0" spc="8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&amp; VISUALIZATION</a:t>
            </a:r>
            <a:endParaRPr lang="en-US" sz="720" dirty="0"/>
          </a:p>
        </p:txBody>
      </p:sp>
      <p:sp>
        <p:nvSpPr>
          <p:cNvPr id="19" name="Text 14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8473380" y="4810571"/>
            <a:ext cx="21580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2742" y="0"/>
            <a:ext cx="2562225" cy="5143500"/>
          </a:xfrm>
          <a:prstGeom prst="rect">
            <a:avLst/>
          </a:prstGeom>
          <a:solidFill>
            <a:srgbClr val="11130F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69" y="925785"/>
            <a:ext cx="292596" cy="2925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40984" y="1728788"/>
            <a:ext cx="868010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Raw</a:t>
            </a:r>
            <a:endParaRPr lang="en-US" sz="3240" dirty="0"/>
          </a:p>
        </p:txBody>
      </p:sp>
      <p:sp>
        <p:nvSpPr>
          <p:cNvPr id="6" name="Text 2"/>
          <p:cNvSpPr/>
          <p:nvPr/>
        </p:nvSpPr>
        <p:spPr>
          <a:xfrm>
            <a:off x="7040984" y="2078534"/>
            <a:ext cx="1157935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rides.</a:t>
            </a:r>
            <a:endParaRPr lang="en-US" sz="3240" dirty="0"/>
          </a:p>
        </p:txBody>
      </p:sp>
      <p:sp>
        <p:nvSpPr>
          <p:cNvPr id="7" name="Text 3"/>
          <p:cNvSpPr/>
          <p:nvPr/>
        </p:nvSpPr>
        <p:spPr>
          <a:xfrm>
            <a:off x="7040984" y="2428280"/>
            <a:ext cx="1058972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Clear</a:t>
            </a:r>
            <a:endParaRPr lang="en-US" sz="3240" dirty="0"/>
          </a:p>
        </p:txBody>
      </p:sp>
      <p:sp>
        <p:nvSpPr>
          <p:cNvPr id="8" name="Text 4"/>
          <p:cNvSpPr/>
          <p:nvPr/>
        </p:nvSpPr>
        <p:spPr>
          <a:xfrm>
            <a:off x="7040984" y="2778026"/>
            <a:ext cx="1808887" cy="4905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2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answers.</a:t>
            </a:r>
            <a:endParaRPr lang="en-US" sz="3240" dirty="0"/>
          </a:p>
        </p:txBody>
      </p:sp>
      <p:sp>
        <p:nvSpPr>
          <p:cNvPr id="9" name="Shape 5"/>
          <p:cNvSpPr/>
          <p:nvPr/>
        </p:nvSpPr>
        <p:spPr>
          <a:xfrm>
            <a:off x="641152" y="62292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0" name="Text 6"/>
          <p:cNvSpPr/>
          <p:nvPr/>
        </p:nvSpPr>
        <p:spPr>
          <a:xfrm>
            <a:off x="772567" y="570533"/>
            <a:ext cx="1327420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 / CONTEXT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40035" y="803895"/>
            <a:ext cx="2414565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INTRODUCTION</a:t>
            </a:r>
            <a:endParaRPr lang="en-US" sz="2950" dirty="0"/>
          </a:p>
        </p:txBody>
      </p:sp>
      <p:sp>
        <p:nvSpPr>
          <p:cNvPr id="12" name="Text 8"/>
          <p:cNvSpPr/>
          <p:nvPr/>
        </p:nvSpPr>
        <p:spPr>
          <a:xfrm>
            <a:off x="640035" y="1563216"/>
            <a:ext cx="2940144" cy="4283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is a bike taxi and mobility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service platform.</a:t>
            </a:r>
            <a:endParaRPr lang="en-US" sz="1190" dirty="0"/>
          </a:p>
        </p:txBody>
      </p:sp>
      <p:sp>
        <p:nvSpPr>
          <p:cNvPr id="13" name="Text 9"/>
          <p:cNvSpPr/>
          <p:nvPr/>
        </p:nvSpPr>
        <p:spPr>
          <a:xfrm>
            <a:off x="640035" y="2155031"/>
            <a:ext cx="3018792" cy="4283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analyzes Rapido ride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 data using Power BI.</a:t>
            </a:r>
            <a:endParaRPr lang="en-US" sz="1190" dirty="0"/>
          </a:p>
        </p:txBody>
      </p:sp>
      <p:sp>
        <p:nvSpPr>
          <p:cNvPr id="14" name="Shape 10"/>
          <p:cNvSpPr/>
          <p:nvPr/>
        </p:nvSpPr>
        <p:spPr>
          <a:xfrm>
            <a:off x="3519934" y="1563105"/>
            <a:ext cx="2424113" cy="1414463"/>
          </a:xfrm>
          <a:prstGeom prst="rect">
            <a:avLst/>
          </a:prstGeom>
        </p:spPr>
      </p:sp>
      <p:sp>
        <p:nvSpPr>
          <p:cNvPr id="15" name="Text 11"/>
          <p:cNvSpPr/>
          <p:nvPr/>
        </p:nvSpPr>
        <p:spPr>
          <a:xfrm>
            <a:off x="3799433" y="1567979"/>
            <a:ext cx="1709343" cy="15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860" b="1" kern="0" spc="10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CONTAINS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3800475" y="1890861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7" name="Text 13"/>
          <p:cNvSpPr/>
          <p:nvPr/>
        </p:nvSpPr>
        <p:spPr>
          <a:xfrm>
            <a:off x="3954810" y="1851645"/>
            <a:ext cx="2238985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Bookings, customers, and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drivers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3800475" y="2355726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9" name="Text 15"/>
          <p:cNvSpPr/>
          <p:nvPr/>
        </p:nvSpPr>
        <p:spPr>
          <a:xfrm>
            <a:off x="3954810" y="2316510"/>
            <a:ext cx="1904464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Vehicles and payment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methods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3800475" y="2820591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1" name="Text 17"/>
          <p:cNvSpPr/>
          <p:nvPr/>
        </p:nvSpPr>
        <p:spPr>
          <a:xfrm>
            <a:off x="3954810" y="2781374"/>
            <a:ext cx="2555029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 performance and ratings</a:t>
            </a:r>
            <a:endParaRPr lang="en-US" sz="1120" dirty="0"/>
          </a:p>
        </p:txBody>
      </p:sp>
      <p:sp>
        <p:nvSpPr>
          <p:cNvPr id="22" name="Shape 18"/>
          <p:cNvSpPr/>
          <p:nvPr/>
        </p:nvSpPr>
        <p:spPr>
          <a:xfrm>
            <a:off x="639552" y="3388221"/>
            <a:ext cx="4938712" cy="1042988"/>
          </a:xfrm>
          <a:prstGeom prst="rect">
            <a:avLst/>
          </a:prstGeom>
        </p:spPr>
      </p:sp>
      <p:sp>
        <p:nvSpPr>
          <p:cNvPr id="23" name="Text 19"/>
          <p:cNvSpPr/>
          <p:nvPr/>
        </p:nvSpPr>
        <p:spPr>
          <a:xfrm>
            <a:off x="640035" y="3552676"/>
            <a:ext cx="1379369" cy="15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0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POWER BI?</a:t>
            </a:r>
            <a:endParaRPr lang="en-US" sz="860" dirty="0"/>
          </a:p>
        </p:txBody>
      </p:sp>
      <p:sp>
        <p:nvSpPr>
          <p:cNvPr id="24" name="Text 20"/>
          <p:cNvSpPr/>
          <p:nvPr/>
        </p:nvSpPr>
        <p:spPr>
          <a:xfrm>
            <a:off x="640035" y="3774207"/>
            <a:ext cx="5996107" cy="6471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BI transforms raw ride data into meaningful dashboards and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visualizations, helping identify important trends and patterns in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bookings.</a:t>
            </a:r>
            <a:endParaRPr lang="en-US" sz="1190" dirty="0"/>
          </a:p>
        </p:txBody>
      </p:sp>
      <p:sp>
        <p:nvSpPr>
          <p:cNvPr id="25" name="Text 21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6" name="Text 22"/>
          <p:cNvSpPr/>
          <p:nvPr/>
        </p:nvSpPr>
        <p:spPr>
          <a:xfrm>
            <a:off x="8454479" y="4810571"/>
            <a:ext cx="240372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83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19934" y="1563105"/>
            <a:ext cx="2424113" cy="1414463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9552" y="3388221"/>
            <a:ext cx="4938712" cy="10429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73888" y="62292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6958519" y="570533"/>
            <a:ext cx="1312232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FRAMING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288664" y="737220"/>
            <a:ext cx="1215301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040" b="1" dirty="0">
                <a:solidFill>
                  <a:srgbClr val="D8D4CA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ASK</a:t>
            </a:r>
            <a:endParaRPr lang="en-US" sz="5040" dirty="0"/>
          </a:p>
        </p:txBody>
      </p:sp>
      <p:sp>
        <p:nvSpPr>
          <p:cNvPr id="6" name="Text 3"/>
          <p:cNvSpPr/>
          <p:nvPr/>
        </p:nvSpPr>
        <p:spPr>
          <a:xfrm>
            <a:off x="6716264" y="1249263"/>
            <a:ext cx="1787701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50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WHY?</a:t>
            </a:r>
            <a:endParaRPr lang="en-US" sz="5040" dirty="0"/>
          </a:p>
        </p:txBody>
      </p:sp>
      <p:sp>
        <p:nvSpPr>
          <p:cNvPr id="7" name="Shape 4"/>
          <p:cNvSpPr/>
          <p:nvPr/>
        </p:nvSpPr>
        <p:spPr>
          <a:xfrm>
            <a:off x="641152" y="62292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8" name="Text 5"/>
          <p:cNvSpPr/>
          <p:nvPr/>
        </p:nvSpPr>
        <p:spPr>
          <a:xfrm>
            <a:off x="772567" y="570533"/>
            <a:ext cx="1760518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PROJECT FRAMING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35" y="803895"/>
            <a:ext cx="3490198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PROBLEM STATEMENT</a:t>
            </a:r>
            <a:endParaRPr lang="en-US" sz="2950" dirty="0"/>
          </a:p>
        </p:txBody>
      </p:sp>
      <p:sp>
        <p:nvSpPr>
          <p:cNvPr id="10" name="Text 7"/>
          <p:cNvSpPr/>
          <p:nvPr/>
        </p:nvSpPr>
        <p:spPr>
          <a:xfrm>
            <a:off x="640035" y="1408881"/>
            <a:ext cx="5723885" cy="4283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main purpose of this project is to analyze ride booking data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 understand:</a:t>
            </a:r>
            <a:endParaRPr lang="en-US" sz="1190" dirty="0"/>
          </a:p>
        </p:txBody>
      </p:sp>
      <p:sp>
        <p:nvSpPr>
          <p:cNvPr id="11" name="Shape 8"/>
          <p:cNvSpPr/>
          <p:nvPr/>
        </p:nvSpPr>
        <p:spPr>
          <a:xfrm>
            <a:off x="641077" y="2138065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2" name="Text 9"/>
          <p:cNvSpPr/>
          <p:nvPr/>
        </p:nvSpPr>
        <p:spPr>
          <a:xfrm>
            <a:off x="831592" y="2072615"/>
            <a:ext cx="2377321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bookings and revenue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3475732" y="2138065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4" name="Text 11"/>
          <p:cNvSpPr/>
          <p:nvPr/>
        </p:nvSpPr>
        <p:spPr>
          <a:xfrm>
            <a:off x="3630067" y="2098849"/>
            <a:ext cx="2676436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Completed and cancelled rides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41077" y="2543770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6" name="Text 13"/>
          <p:cNvSpPr/>
          <p:nvPr/>
        </p:nvSpPr>
        <p:spPr>
          <a:xfrm>
            <a:off x="795412" y="2504554"/>
            <a:ext cx="2911220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and driver performance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3475732" y="2543770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8" name="Text 15"/>
          <p:cNvSpPr/>
          <p:nvPr/>
        </p:nvSpPr>
        <p:spPr>
          <a:xfrm>
            <a:off x="3630067" y="2504554"/>
            <a:ext cx="1650913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 type usage</a:t>
            </a:r>
            <a:endParaRPr lang="en-US" sz="1120" dirty="0"/>
          </a:p>
        </p:txBody>
      </p:sp>
      <p:sp>
        <p:nvSpPr>
          <p:cNvPr id="19" name="Shape 16"/>
          <p:cNvSpPr/>
          <p:nvPr/>
        </p:nvSpPr>
        <p:spPr>
          <a:xfrm>
            <a:off x="641077" y="2848198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0" name="Text 17"/>
          <p:cNvSpPr/>
          <p:nvPr/>
        </p:nvSpPr>
        <p:spPr>
          <a:xfrm>
            <a:off x="795412" y="2808982"/>
            <a:ext cx="2065050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 method usage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3475732" y="2848198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2" name="Text 19"/>
          <p:cNvSpPr/>
          <p:nvPr/>
        </p:nvSpPr>
        <p:spPr>
          <a:xfrm>
            <a:off x="3630067" y="2808982"/>
            <a:ext cx="2347526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 distance and ride time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641077" y="3152626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4" name="Text 21"/>
          <p:cNvSpPr/>
          <p:nvPr/>
        </p:nvSpPr>
        <p:spPr>
          <a:xfrm>
            <a:off x="795412" y="3113410"/>
            <a:ext cx="2413985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and driver ratings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3475732" y="3152626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6" name="Text 23"/>
          <p:cNvSpPr/>
          <p:nvPr/>
        </p:nvSpPr>
        <p:spPr>
          <a:xfrm>
            <a:off x="3630067" y="3113410"/>
            <a:ext cx="2985998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Incomplete rides and their reasons</a:t>
            </a:r>
            <a:endParaRPr lang="en-US" sz="1120" dirty="0"/>
          </a:p>
        </p:txBody>
      </p:sp>
      <p:sp>
        <p:nvSpPr>
          <p:cNvPr id="27" name="Shape 24"/>
          <p:cNvSpPr/>
          <p:nvPr/>
        </p:nvSpPr>
        <p:spPr>
          <a:xfrm>
            <a:off x="5045980" y="4074765"/>
            <a:ext cx="3457575" cy="400050"/>
          </a:xfrm>
          <a:prstGeom prst="rect">
            <a:avLst/>
          </a:prstGeom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571" y="4182294"/>
            <a:ext cx="292596" cy="29259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466159" y="4247629"/>
            <a:ext cx="4006297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DECISION-READY VIEW OF RIDE PERFORMANCE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1" name="Text 27"/>
          <p:cNvSpPr/>
          <p:nvPr/>
        </p:nvSpPr>
        <p:spPr>
          <a:xfrm>
            <a:off x="8456265" y="4810571"/>
            <a:ext cx="23805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83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45980" y="4074765"/>
            <a:ext cx="3457575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1130F"/>
          </a:solidFill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914" y="4439469"/>
            <a:ext cx="292596" cy="29259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1152" y="62292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6" name="Text 2"/>
          <p:cNvSpPr/>
          <p:nvPr/>
        </p:nvSpPr>
        <p:spPr>
          <a:xfrm>
            <a:off x="772567" y="570533"/>
            <a:ext cx="1148938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INTENT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35" y="803895"/>
            <a:ext cx="3543791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PROJECT OBJECTIVES</a:t>
            </a:r>
            <a:endParaRPr lang="en-US" sz="2950" dirty="0"/>
          </a:p>
        </p:txBody>
      </p:sp>
      <p:sp>
        <p:nvSpPr>
          <p:cNvPr id="8" name="Text 4"/>
          <p:cNvSpPr/>
          <p:nvPr/>
        </p:nvSpPr>
        <p:spPr>
          <a:xfrm>
            <a:off x="640035" y="1578471"/>
            <a:ext cx="477671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346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3460" dirty="0"/>
          </a:p>
        </p:txBody>
      </p:sp>
      <p:sp>
        <p:nvSpPr>
          <p:cNvPr id="9" name="Shape 5"/>
          <p:cNvSpPr/>
          <p:nvPr/>
        </p:nvSpPr>
        <p:spPr>
          <a:xfrm>
            <a:off x="641077" y="2333179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0" name="Text 6"/>
          <p:cNvSpPr/>
          <p:nvPr/>
        </p:nvSpPr>
        <p:spPr>
          <a:xfrm>
            <a:off x="795412" y="2293962"/>
            <a:ext cx="2030901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overall booking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performance.</a:t>
            </a:r>
            <a:endParaRPr lang="en-US" sz="1120" dirty="0"/>
          </a:p>
        </p:txBody>
      </p:sp>
      <p:sp>
        <p:nvSpPr>
          <p:cNvPr id="11" name="Shape 7"/>
          <p:cNvSpPr/>
          <p:nvPr/>
        </p:nvSpPr>
        <p:spPr>
          <a:xfrm>
            <a:off x="641077" y="2844403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2" name="Text 8"/>
          <p:cNvSpPr/>
          <p:nvPr/>
        </p:nvSpPr>
        <p:spPr>
          <a:xfrm>
            <a:off x="795412" y="2805187"/>
            <a:ext cx="2996156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Calculate total revenue generated.</a:t>
            </a:r>
            <a:endParaRPr lang="en-US" sz="1120" dirty="0"/>
          </a:p>
        </p:txBody>
      </p:sp>
      <p:sp>
        <p:nvSpPr>
          <p:cNvPr id="13" name="Shape 9"/>
          <p:cNvSpPr/>
          <p:nvPr/>
        </p:nvSpPr>
        <p:spPr>
          <a:xfrm>
            <a:off x="641077" y="3164309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4" name="Text 10"/>
          <p:cNvSpPr/>
          <p:nvPr/>
        </p:nvSpPr>
        <p:spPr>
          <a:xfrm>
            <a:off x="795412" y="3125093"/>
            <a:ext cx="2866623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completed and cancelled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bookings.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3352726" y="1578471"/>
            <a:ext cx="565606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346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3460" dirty="0"/>
          </a:p>
        </p:txBody>
      </p:sp>
      <p:sp>
        <p:nvSpPr>
          <p:cNvPr id="16" name="Shape 12"/>
          <p:cNvSpPr/>
          <p:nvPr/>
        </p:nvSpPr>
        <p:spPr>
          <a:xfrm>
            <a:off x="3353767" y="2333179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7" name="Text 13"/>
          <p:cNvSpPr/>
          <p:nvPr/>
        </p:nvSpPr>
        <p:spPr>
          <a:xfrm>
            <a:off x="3508102" y="2293962"/>
            <a:ext cx="2453551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customer and driver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activity.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3353767" y="2844403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9" name="Text 15"/>
          <p:cNvSpPr/>
          <p:nvPr/>
        </p:nvSpPr>
        <p:spPr>
          <a:xfrm>
            <a:off x="3508102" y="2805187"/>
            <a:ext cx="2807032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Compare different vehicle types.</a:t>
            </a:r>
            <a:endParaRPr lang="en-US" sz="1120" dirty="0"/>
          </a:p>
        </p:txBody>
      </p:sp>
      <p:sp>
        <p:nvSpPr>
          <p:cNvPr id="20" name="Shape 16"/>
          <p:cNvSpPr/>
          <p:nvPr/>
        </p:nvSpPr>
        <p:spPr>
          <a:xfrm>
            <a:off x="3353767" y="3164309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1" name="Text 17"/>
          <p:cNvSpPr/>
          <p:nvPr/>
        </p:nvSpPr>
        <p:spPr>
          <a:xfrm>
            <a:off x="3508102" y="3125093"/>
            <a:ext cx="2351782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payment methods.</a:t>
            </a:r>
            <a:endParaRPr lang="en-US" sz="1120" dirty="0"/>
          </a:p>
        </p:txBody>
      </p:sp>
      <p:sp>
        <p:nvSpPr>
          <p:cNvPr id="22" name="Text 18"/>
          <p:cNvSpPr/>
          <p:nvPr/>
        </p:nvSpPr>
        <p:spPr>
          <a:xfrm>
            <a:off x="6065490" y="1578471"/>
            <a:ext cx="564446" cy="5238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346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3460" dirty="0"/>
          </a:p>
        </p:txBody>
      </p:sp>
      <p:sp>
        <p:nvSpPr>
          <p:cNvPr id="23" name="Shape 19"/>
          <p:cNvSpPr/>
          <p:nvPr/>
        </p:nvSpPr>
        <p:spPr>
          <a:xfrm>
            <a:off x="6066532" y="2333179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4" name="Text 20"/>
          <p:cNvSpPr/>
          <p:nvPr/>
        </p:nvSpPr>
        <p:spPr>
          <a:xfrm>
            <a:off x="6220867" y="2293962"/>
            <a:ext cx="2926020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 ride distance and ride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time.</a:t>
            </a:r>
            <a:endParaRPr lang="en-US" sz="1120" dirty="0"/>
          </a:p>
        </p:txBody>
      </p:sp>
      <p:sp>
        <p:nvSpPr>
          <p:cNvPr id="25" name="Shape 21"/>
          <p:cNvSpPr/>
          <p:nvPr/>
        </p:nvSpPr>
        <p:spPr>
          <a:xfrm>
            <a:off x="6066532" y="2844403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6" name="Text 22"/>
          <p:cNvSpPr/>
          <p:nvPr/>
        </p:nvSpPr>
        <p:spPr>
          <a:xfrm>
            <a:off x="6220867" y="2805187"/>
            <a:ext cx="2453551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Analyze customer and driver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ratings.</a:t>
            </a:r>
            <a:endParaRPr lang="en-US" sz="1120" dirty="0"/>
          </a:p>
        </p:txBody>
      </p:sp>
      <p:sp>
        <p:nvSpPr>
          <p:cNvPr id="27" name="Shape 23"/>
          <p:cNvSpPr/>
          <p:nvPr/>
        </p:nvSpPr>
        <p:spPr>
          <a:xfrm>
            <a:off x="6066532" y="3355628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8" name="Text 24"/>
          <p:cNvSpPr/>
          <p:nvPr/>
        </p:nvSpPr>
        <p:spPr>
          <a:xfrm>
            <a:off x="6220867" y="3316412"/>
            <a:ext cx="2492826" cy="3865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Identify important business</a:t>
            </a:r>
            <a:endParaRPr lang="en-US" sz="1120" dirty="0"/>
          </a:p>
          <a:p>
            <a:pPr marL="0" indent="0" algn="l">
              <a:lnSpc>
                <a:spcPts val="1505"/>
              </a:lnSpc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insights from the dashboard.</a:t>
            </a:r>
            <a:endParaRPr lang="en-US" sz="1120" dirty="0"/>
          </a:p>
        </p:txBody>
      </p:sp>
      <p:sp>
        <p:nvSpPr>
          <p:cNvPr id="29" name="Text 25"/>
          <p:cNvSpPr/>
          <p:nvPr/>
        </p:nvSpPr>
        <p:spPr>
          <a:xfrm>
            <a:off x="640035" y="4771132"/>
            <a:ext cx="4358424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17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RAW RECORDS → TO BUSINESS QUESTIONS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8452470" y="4810571"/>
            <a:ext cx="242984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8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5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62292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70533"/>
            <a:ext cx="1274505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TOOLKIT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803895"/>
            <a:ext cx="1980791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TOOLS USED</a:t>
            </a:r>
            <a:endParaRPr lang="en-US" sz="2950" dirty="0"/>
          </a:p>
        </p:txBody>
      </p:sp>
      <p:sp>
        <p:nvSpPr>
          <p:cNvPr id="6" name="Shape 3"/>
          <p:cNvSpPr/>
          <p:nvPr/>
        </p:nvSpPr>
        <p:spPr>
          <a:xfrm>
            <a:off x="640519" y="1614041"/>
            <a:ext cx="3748087" cy="217170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07681" y="1838846"/>
            <a:ext cx="457200" cy="45720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8" name="Text 5"/>
          <p:cNvSpPr/>
          <p:nvPr/>
        </p:nvSpPr>
        <p:spPr>
          <a:xfrm>
            <a:off x="3866778" y="1890861"/>
            <a:ext cx="237857" cy="3476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X</a:t>
            </a:r>
            <a:endParaRPr lang="en-US" sz="2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45" y="1838846"/>
            <a:ext cx="292596" cy="2925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245" y="2379985"/>
            <a:ext cx="2498050" cy="3476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230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MICROSOFT EXCEL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864245" y="2904604"/>
            <a:ext cx="3913622" cy="4283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storage.</a:t>
            </a:r>
            <a:endParaRPr lang="en-US" sz="1190" dirty="0"/>
          </a:p>
        </p:txBody>
      </p:sp>
      <p:sp>
        <p:nvSpPr>
          <p:cNvPr id="12" name="Text 8"/>
          <p:cNvSpPr/>
          <p:nvPr/>
        </p:nvSpPr>
        <p:spPr>
          <a:xfrm>
            <a:off x="864245" y="3408015"/>
            <a:ext cx="1777640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PREPARE THE SOURCE</a:t>
            </a:r>
            <a:endParaRPr lang="en-US" sz="830" dirty="0"/>
          </a:p>
        </p:txBody>
      </p:sp>
      <p:sp>
        <p:nvSpPr>
          <p:cNvPr id="13" name="Shape 9"/>
          <p:cNvSpPr/>
          <p:nvPr/>
        </p:nvSpPr>
        <p:spPr>
          <a:xfrm>
            <a:off x="4671695" y="1614170"/>
            <a:ext cx="3912870" cy="2171700"/>
          </a:xfrm>
          <a:prstGeom prst="rect">
            <a:avLst/>
          </a:prstGeom>
          <a:solidFill>
            <a:srgbClr val="20241D"/>
          </a:solidFill>
          <a:ln w="4763">
            <a:solidFill>
              <a:srgbClr val="3D43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22555" y="1838846"/>
            <a:ext cx="457200" cy="45720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15" name="Text 11"/>
          <p:cNvSpPr/>
          <p:nvPr/>
        </p:nvSpPr>
        <p:spPr>
          <a:xfrm>
            <a:off x="7987159" y="1954039"/>
            <a:ext cx="223540" cy="2190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</a:t>
            </a:r>
            <a:endParaRPr lang="en-US" sz="144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045" y="1838846"/>
            <a:ext cx="292596" cy="2925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979045" y="2379985"/>
            <a:ext cx="2958331" cy="3476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2300" b="1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MICROSOFT POWER BI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4777740" y="2811780"/>
            <a:ext cx="3591560" cy="852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cleaning, transformation, DAX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calculations, KPI creation, visualization, and the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dashboard.</a:t>
            </a:r>
            <a:endParaRPr lang="en-US" sz="1190" dirty="0"/>
          </a:p>
        </p:txBody>
      </p:sp>
      <p:sp>
        <p:nvSpPr>
          <p:cNvPr id="19" name="Text 14"/>
          <p:cNvSpPr/>
          <p:nvPr/>
        </p:nvSpPr>
        <p:spPr>
          <a:xfrm>
            <a:off x="4979045" y="3517235"/>
            <a:ext cx="1924296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AEB6A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 DATA INTO A VIEW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1" name="Text 16"/>
          <p:cNvSpPr/>
          <p:nvPr/>
        </p:nvSpPr>
        <p:spPr>
          <a:xfrm>
            <a:off x="8453661" y="4810571"/>
            <a:ext cx="241436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83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357" y="3322104"/>
            <a:ext cx="3300413" cy="238125"/>
          </a:xfrm>
          <a:prstGeom prst="rect">
            <a:avLst/>
          </a:prstGeom>
        </p:spPr>
      </p:pic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6459" y="3560229"/>
            <a:ext cx="3300413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51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1234455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SOURCE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3198726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DATASET OVERVIEW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357461"/>
            <a:ext cx="4875007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dataset contains information related to Rapido rides.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639775" y="1762534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4484" y="1880815"/>
            <a:ext cx="211157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754484" y="2110532"/>
            <a:ext cx="876523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 ID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2230822" y="1762534"/>
            <a:ext cx="1500188" cy="666750"/>
          </a:xfrm>
          <a:prstGeom prst="rect">
            <a:avLst/>
          </a:prstGeom>
          <a:solidFill>
            <a:srgbClr val="20241D"/>
          </a:solidFill>
          <a:ln w="4763">
            <a:solidFill>
              <a:srgbClr val="3D43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45531" y="1880815"/>
            <a:ext cx="229925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2345531" y="2110532"/>
            <a:ext cx="1243065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F7F4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 Status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3821869" y="1762534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6578" y="1880815"/>
            <a:ext cx="22818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3936578" y="2110532"/>
            <a:ext cx="1148938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 Value</a:t>
            </a:r>
            <a:endParaRPr lang="en-US" sz="970" dirty="0"/>
          </a:p>
        </p:txBody>
      </p:sp>
      <p:sp>
        <p:nvSpPr>
          <p:cNvPr id="16" name="Shape 13"/>
          <p:cNvSpPr/>
          <p:nvPr/>
        </p:nvSpPr>
        <p:spPr>
          <a:xfrm>
            <a:off x="5412916" y="1762534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7625" y="1880815"/>
            <a:ext cx="231472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5527625" y="2110532"/>
            <a:ext cx="1019793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ID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7003963" y="1762534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18672" y="1880815"/>
            <a:ext cx="228764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7118672" y="2110532"/>
            <a:ext cx="714003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Driver ID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639775" y="2522525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4484" y="2640806"/>
            <a:ext cx="23292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754484" y="2870522"/>
            <a:ext cx="1296367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Pickup Location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2230822" y="2522525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45531" y="2640806"/>
            <a:ext cx="222476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2345531" y="2870522"/>
            <a:ext cx="1143908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 Location</a:t>
            </a:r>
            <a:endParaRPr lang="en-US" sz="970" dirty="0"/>
          </a:p>
        </p:txBody>
      </p:sp>
      <p:sp>
        <p:nvSpPr>
          <p:cNvPr id="28" name="Shape 25"/>
          <p:cNvSpPr/>
          <p:nvPr/>
        </p:nvSpPr>
        <p:spPr>
          <a:xfrm>
            <a:off x="3821869" y="2522525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36578" y="2640806"/>
            <a:ext cx="231859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3936578" y="2870522"/>
            <a:ext cx="1127075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 Distance</a:t>
            </a:r>
            <a:endParaRPr lang="en-US" sz="970" dirty="0"/>
          </a:p>
        </p:txBody>
      </p:sp>
      <p:sp>
        <p:nvSpPr>
          <p:cNvPr id="31" name="Shape 28"/>
          <p:cNvSpPr/>
          <p:nvPr/>
        </p:nvSpPr>
        <p:spPr>
          <a:xfrm>
            <a:off x="5412916" y="2522525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27625" y="2640806"/>
            <a:ext cx="23292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5527625" y="2870522"/>
            <a:ext cx="817319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 Time</a:t>
            </a:r>
            <a:endParaRPr lang="en-US" sz="970" dirty="0"/>
          </a:p>
        </p:txBody>
      </p:sp>
      <p:sp>
        <p:nvSpPr>
          <p:cNvPr id="34" name="Shape 31"/>
          <p:cNvSpPr/>
          <p:nvPr/>
        </p:nvSpPr>
        <p:spPr>
          <a:xfrm>
            <a:off x="7003963" y="2522525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18672" y="2640806"/>
            <a:ext cx="211157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7118672" y="2870522"/>
            <a:ext cx="976551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Date &amp; Time</a:t>
            </a:r>
            <a:endParaRPr lang="en-US" sz="970" dirty="0"/>
          </a:p>
        </p:txBody>
      </p:sp>
      <p:sp>
        <p:nvSpPr>
          <p:cNvPr id="37" name="Shape 34"/>
          <p:cNvSpPr/>
          <p:nvPr/>
        </p:nvSpPr>
        <p:spPr>
          <a:xfrm>
            <a:off x="639775" y="3282516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4484" y="3400797"/>
            <a:ext cx="185038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754484" y="3630513"/>
            <a:ext cx="1026855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 Type</a:t>
            </a:r>
            <a:endParaRPr lang="en-US" sz="970" dirty="0"/>
          </a:p>
        </p:txBody>
      </p:sp>
      <p:sp>
        <p:nvSpPr>
          <p:cNvPr id="40" name="Shape 37"/>
          <p:cNvSpPr/>
          <p:nvPr/>
        </p:nvSpPr>
        <p:spPr>
          <a:xfrm>
            <a:off x="2230822" y="3282516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345531" y="3400797"/>
            <a:ext cx="203708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2345531" y="3630513"/>
            <a:ext cx="1375209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 Method</a:t>
            </a:r>
            <a:endParaRPr lang="en-US" sz="970" dirty="0"/>
          </a:p>
        </p:txBody>
      </p:sp>
      <p:sp>
        <p:nvSpPr>
          <p:cNvPr id="43" name="Shape 40"/>
          <p:cNvSpPr/>
          <p:nvPr/>
        </p:nvSpPr>
        <p:spPr>
          <a:xfrm>
            <a:off x="3821869" y="3282516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936578" y="3400797"/>
            <a:ext cx="202064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3936578" y="3630513"/>
            <a:ext cx="1374242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Rating</a:t>
            </a:r>
            <a:endParaRPr lang="en-US" sz="970" dirty="0"/>
          </a:p>
        </p:txBody>
      </p:sp>
      <p:sp>
        <p:nvSpPr>
          <p:cNvPr id="46" name="Shape 43"/>
          <p:cNvSpPr/>
          <p:nvPr/>
        </p:nvSpPr>
        <p:spPr>
          <a:xfrm>
            <a:off x="5412916" y="3282516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27625" y="3400797"/>
            <a:ext cx="205256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720" dirty="0"/>
          </a:p>
        </p:txBody>
      </p:sp>
      <p:sp>
        <p:nvSpPr>
          <p:cNvPr id="48" name="Text 45"/>
          <p:cNvSpPr/>
          <p:nvPr/>
        </p:nvSpPr>
        <p:spPr>
          <a:xfrm>
            <a:off x="5527625" y="3630513"/>
            <a:ext cx="1068452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Driver Rating</a:t>
            </a:r>
            <a:endParaRPr lang="en-US" sz="970" dirty="0"/>
          </a:p>
        </p:txBody>
      </p:sp>
      <p:sp>
        <p:nvSpPr>
          <p:cNvPr id="49" name="Shape 46"/>
          <p:cNvSpPr/>
          <p:nvPr/>
        </p:nvSpPr>
        <p:spPr>
          <a:xfrm>
            <a:off x="7003963" y="3282516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118672" y="3400797"/>
            <a:ext cx="202644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7118672" y="3630513"/>
            <a:ext cx="1488780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Cancellation Flags</a:t>
            </a:r>
            <a:endParaRPr lang="en-US" sz="970" dirty="0"/>
          </a:p>
        </p:txBody>
      </p:sp>
      <p:sp>
        <p:nvSpPr>
          <p:cNvPr id="52" name="Shape 49"/>
          <p:cNvSpPr/>
          <p:nvPr/>
        </p:nvSpPr>
        <p:spPr>
          <a:xfrm>
            <a:off x="639775" y="4042507"/>
            <a:ext cx="1500188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54484" y="4160788"/>
            <a:ext cx="206804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754484" y="4390504"/>
            <a:ext cx="1314748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Incomplete Ride</a:t>
            </a:r>
            <a:endParaRPr lang="en-US" sz="970" dirty="0"/>
          </a:p>
        </p:txBody>
      </p:sp>
      <p:sp>
        <p:nvSpPr>
          <p:cNvPr id="55" name="Shape 52"/>
          <p:cNvSpPr/>
          <p:nvPr/>
        </p:nvSpPr>
        <p:spPr>
          <a:xfrm>
            <a:off x="2231008" y="4042507"/>
            <a:ext cx="3090862" cy="666750"/>
          </a:xfrm>
          <a:prstGeom prst="rect">
            <a:avLst/>
          </a:prstGeom>
          <a:solidFill>
            <a:srgbClr val="FBF9F4"/>
          </a:solidFill>
          <a:ln w="4763">
            <a:solidFill>
              <a:srgbClr val="D9D4C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345531" y="4160788"/>
            <a:ext cx="420015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" b="1" kern="0" spc="72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17–18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345531" y="4390504"/>
            <a:ext cx="3413581" cy="1714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30"/>
              </a:spcBef>
              <a:buNone/>
            </a:pPr>
            <a:r>
              <a:rPr lang="en-US" sz="97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Incomplete Ride Reason · Ride performance</a:t>
            </a:r>
            <a:endParaRPr lang="en-US" sz="970" dirty="0"/>
          </a:p>
        </p:txBody>
      </p:sp>
      <p:sp>
        <p:nvSpPr>
          <p:cNvPr id="58" name="Text 55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59" name="Text 56"/>
          <p:cNvSpPr/>
          <p:nvPr/>
        </p:nvSpPr>
        <p:spPr>
          <a:xfrm>
            <a:off x="8449196" y="4810571"/>
            <a:ext cx="24724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62292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70533"/>
            <a:ext cx="1259413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METHOD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803895"/>
            <a:ext cx="4944465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DATA CLEANING &amp; PROCESSING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413644"/>
            <a:ext cx="5966408" cy="190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080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Preparing the source so every dashboard view answers a clean question.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639775" y="1922599"/>
            <a:ext cx="1500188" cy="1200150"/>
          </a:xfrm>
          <a:prstGeom prst="rect">
            <a:avLst/>
          </a:prstGeom>
          <a:solidFill>
            <a:srgbClr val="FBF9F4"/>
          </a:solidFill>
        </p:spPr>
      </p:sp>
      <p:sp>
        <p:nvSpPr>
          <p:cNvPr id="8" name="Text 5"/>
          <p:cNvSpPr/>
          <p:nvPr/>
        </p:nvSpPr>
        <p:spPr>
          <a:xfrm>
            <a:off x="768028" y="2132112"/>
            <a:ext cx="390123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</a:t>
            </a:r>
            <a:endParaRPr lang="en-US" sz="2740" dirty="0"/>
          </a:p>
        </p:txBody>
      </p:sp>
      <p:sp>
        <p:nvSpPr>
          <p:cNvPr id="9" name="Text 6"/>
          <p:cNvSpPr/>
          <p:nvPr/>
        </p:nvSpPr>
        <p:spPr>
          <a:xfrm>
            <a:off x="768028" y="2701781"/>
            <a:ext cx="1562011" cy="300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Checked the dataset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missing values.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30822" y="1922599"/>
            <a:ext cx="1500188" cy="1200150"/>
          </a:xfrm>
          <a:prstGeom prst="rect">
            <a:avLst/>
          </a:prstGeom>
          <a:solidFill>
            <a:srgbClr val="11130F"/>
          </a:solidFill>
        </p:spPr>
      </p:sp>
      <p:sp>
        <p:nvSpPr>
          <p:cNvPr id="11" name="Text 8"/>
          <p:cNvSpPr/>
          <p:nvPr/>
        </p:nvSpPr>
        <p:spPr>
          <a:xfrm>
            <a:off x="2359075" y="2132112"/>
            <a:ext cx="459678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</a:t>
            </a:r>
            <a:endParaRPr lang="en-US" sz="2740" dirty="0"/>
          </a:p>
        </p:txBody>
      </p:sp>
      <p:sp>
        <p:nvSpPr>
          <p:cNvPr id="12" name="Text 9"/>
          <p:cNvSpPr/>
          <p:nvPr/>
        </p:nvSpPr>
        <p:spPr>
          <a:xfrm>
            <a:off x="2359075" y="2701781"/>
            <a:ext cx="1403263" cy="300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7F4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Checked duplicate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7F4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21869" y="1922599"/>
            <a:ext cx="1500188" cy="1200150"/>
          </a:xfrm>
          <a:prstGeom prst="rect">
            <a:avLst/>
          </a:prstGeom>
          <a:solidFill>
            <a:srgbClr val="FBF9F4"/>
          </a:solidFill>
        </p:spPr>
      </p:sp>
      <p:sp>
        <p:nvSpPr>
          <p:cNvPr id="14" name="Text 11"/>
          <p:cNvSpPr/>
          <p:nvPr/>
        </p:nvSpPr>
        <p:spPr>
          <a:xfrm>
            <a:off x="3950122" y="2132112"/>
            <a:ext cx="458711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2740" dirty="0"/>
          </a:p>
        </p:txBody>
      </p:sp>
      <p:sp>
        <p:nvSpPr>
          <p:cNvPr id="15" name="Text 12"/>
          <p:cNvSpPr/>
          <p:nvPr/>
        </p:nvSpPr>
        <p:spPr>
          <a:xfrm>
            <a:off x="3950122" y="2698924"/>
            <a:ext cx="1453470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90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Verified data types.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412916" y="1922599"/>
            <a:ext cx="1500188" cy="1200150"/>
          </a:xfrm>
          <a:prstGeom prst="rect">
            <a:avLst/>
          </a:prstGeom>
          <a:solidFill>
            <a:srgbClr val="FBF9F4"/>
          </a:solidFill>
        </p:spPr>
      </p:sp>
      <p:sp>
        <p:nvSpPr>
          <p:cNvPr id="17" name="Text 14"/>
          <p:cNvSpPr/>
          <p:nvPr/>
        </p:nvSpPr>
        <p:spPr>
          <a:xfrm>
            <a:off x="5541169" y="2132112"/>
            <a:ext cx="48038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</a:t>
            </a:r>
            <a:endParaRPr lang="en-US" sz="2740" dirty="0"/>
          </a:p>
        </p:txBody>
      </p:sp>
      <p:sp>
        <p:nvSpPr>
          <p:cNvPr id="18" name="Text 15"/>
          <p:cNvSpPr/>
          <p:nvPr/>
        </p:nvSpPr>
        <p:spPr>
          <a:xfrm>
            <a:off x="5541169" y="2701781"/>
            <a:ext cx="1459371" cy="300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Formatted date and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time columns.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003963" y="1922599"/>
            <a:ext cx="1500188" cy="1200150"/>
          </a:xfrm>
          <a:prstGeom prst="rect">
            <a:avLst/>
          </a:prstGeom>
          <a:solidFill>
            <a:srgbClr val="FBF9F4"/>
          </a:solidFill>
        </p:spPr>
      </p:sp>
      <p:sp>
        <p:nvSpPr>
          <p:cNvPr id="20" name="Text 17"/>
          <p:cNvSpPr/>
          <p:nvPr/>
        </p:nvSpPr>
        <p:spPr>
          <a:xfrm>
            <a:off x="7132216" y="2132112"/>
            <a:ext cx="460065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740" b="1" dirty="0">
                <a:solidFill>
                  <a:srgbClr val="F7C948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05</a:t>
            </a:r>
            <a:endParaRPr lang="en-US" sz="2740" dirty="0"/>
          </a:p>
        </p:txBody>
      </p:sp>
      <p:sp>
        <p:nvSpPr>
          <p:cNvPr id="21" name="Text 18"/>
          <p:cNvSpPr/>
          <p:nvPr/>
        </p:nvSpPr>
        <p:spPr>
          <a:xfrm>
            <a:off x="7132216" y="2701781"/>
            <a:ext cx="1444377" cy="3000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Checked numerical</a:t>
            </a:r>
            <a:endParaRPr lang="en-US" sz="900" dirty="0"/>
          </a:p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columns.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221" y="3468365"/>
            <a:ext cx="61912" cy="619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23" name="Text 20"/>
          <p:cNvSpPr/>
          <p:nvPr/>
        </p:nvSpPr>
        <p:spPr>
          <a:xfrm>
            <a:off x="793700" y="3332634"/>
            <a:ext cx="9973985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0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STANDARDIZED CATEGORICAL VALUES · PREPARED THE DATA FOR POWER BI · CREATED CALCULATED MEASURES USING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b="1" kern="0" spc="90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DAX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556" y="3825478"/>
            <a:ext cx="7862887" cy="557213"/>
          </a:xfrm>
          <a:prstGeom prst="rect">
            <a:avLst/>
          </a:prstGeom>
        </p:spPr>
      </p:sp>
      <p:sp>
        <p:nvSpPr>
          <p:cNvPr id="25" name="Text 22"/>
          <p:cNvSpPr/>
          <p:nvPr/>
        </p:nvSpPr>
        <p:spPr>
          <a:xfrm>
            <a:off x="640035" y="4026545"/>
            <a:ext cx="990384" cy="15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86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1540743" y="3965972"/>
            <a:ext cx="1110727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RAW DATA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2534022" y="3976390"/>
            <a:ext cx="25633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40" dirty="0"/>
          </a:p>
        </p:txBody>
      </p:sp>
      <p:sp>
        <p:nvSpPr>
          <p:cNvPr id="28" name="Text 25"/>
          <p:cNvSpPr/>
          <p:nvPr/>
        </p:nvSpPr>
        <p:spPr>
          <a:xfrm>
            <a:off x="2870076" y="3965972"/>
            <a:ext cx="1112468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CLEANING    TRANSFORMATION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950122" y="3976390"/>
            <a:ext cx="568416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440" dirty="0"/>
          </a:p>
        </p:txBody>
      </p:sp>
      <p:sp>
        <p:nvSpPr>
          <p:cNvPr id="30" name="Text 27"/>
          <p:cNvSpPr/>
          <p:nvPr/>
        </p:nvSpPr>
        <p:spPr>
          <a:xfrm>
            <a:off x="4201150" y="3975735"/>
            <a:ext cx="1902469" cy="25971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719427" y="3926860"/>
            <a:ext cx="25633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440" dirty="0"/>
          </a:p>
        </p:txBody>
      </p:sp>
      <p:sp>
        <p:nvSpPr>
          <p:cNvPr id="33" name="Text 30"/>
          <p:cNvSpPr/>
          <p:nvPr/>
        </p:nvSpPr>
        <p:spPr>
          <a:xfrm>
            <a:off x="5963665" y="3983038"/>
            <a:ext cx="25633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440" dirty="0"/>
          </a:p>
        </p:txBody>
      </p:sp>
      <p:sp>
        <p:nvSpPr>
          <p:cNvPr id="34" name="Text 31"/>
          <p:cNvSpPr/>
          <p:nvPr/>
        </p:nvSpPr>
        <p:spPr>
          <a:xfrm>
            <a:off x="6219999" y="3952577"/>
            <a:ext cx="1304203" cy="2762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7" name="Text 33"/>
          <p:cNvSpPr/>
          <p:nvPr/>
        </p:nvSpPr>
        <p:spPr>
          <a:xfrm>
            <a:off x="8461623" y="4810571"/>
            <a:ext cx="23108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83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775" y="1922599"/>
            <a:ext cx="1500188" cy="1200150"/>
          </a:xfrm>
          <a:prstGeom prst="rect">
            <a:avLst/>
          </a:prstGeom>
        </p:spPr>
      </p:pic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30822" y="1922599"/>
            <a:ext cx="1500188" cy="1200150"/>
          </a:xfrm>
          <a:prstGeom prst="rect">
            <a:avLst/>
          </a:prstGeom>
        </p:spPr>
      </p:pic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1869" y="1922599"/>
            <a:ext cx="1500188" cy="1200150"/>
          </a:xfrm>
          <a:prstGeom prst="rect">
            <a:avLst/>
          </a:prstGeom>
        </p:spPr>
      </p:pic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2916" y="1922599"/>
            <a:ext cx="1500188" cy="1200150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03963" y="1922599"/>
            <a:ext cx="1500188" cy="1200150"/>
          </a:xfrm>
          <a:prstGeom prst="rect">
            <a:avLst/>
          </a:prstGeom>
        </p:spPr>
      </p:pic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191" y="4395620"/>
            <a:ext cx="7862887" cy="557213"/>
          </a:xfrm>
          <a:prstGeom prst="rect">
            <a:avLst/>
          </a:prstGeom>
        </p:spPr>
      </p:pic>
      <p:sp>
        <p:nvSpPr>
          <p:cNvPr id="44" name="Text 26">
            <a:extLst>
              <a:ext uri="{FF2B5EF4-FFF2-40B4-BE49-F238E27FC236}">
                <a16:creationId xmlns:a16="http://schemas.microsoft.com/office/drawing/2014/main" id="{A6A8B737-5C50-4DC9-B0E6-5AF7F9040807}"/>
              </a:ext>
            </a:extLst>
          </p:cNvPr>
          <p:cNvSpPr/>
          <p:nvPr/>
        </p:nvSpPr>
        <p:spPr>
          <a:xfrm>
            <a:off x="2651470" y="3999874"/>
            <a:ext cx="568416" cy="18348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endParaRPr lang="en-US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1599448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SCORECARD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5050296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KEY PERFORMANCE INDICATORS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362224"/>
            <a:ext cx="1856579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67959" y="1362224"/>
            <a:ext cx="2313957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816224" y="1769269"/>
            <a:ext cx="28603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23" name="Text 17"/>
          <p:cNvSpPr/>
          <p:nvPr/>
        </p:nvSpPr>
        <p:spPr>
          <a:xfrm>
            <a:off x="3962177" y="2405881"/>
            <a:ext cx="946078" cy="305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endParaRPr lang="en-US" sz="830" dirty="0"/>
          </a:p>
        </p:txBody>
      </p:sp>
      <p:sp>
        <p:nvSpPr>
          <p:cNvPr id="26" name="Text 19"/>
          <p:cNvSpPr/>
          <p:nvPr/>
        </p:nvSpPr>
        <p:spPr>
          <a:xfrm>
            <a:off x="6600379" y="1769269"/>
            <a:ext cx="28603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27" name="Text 20"/>
          <p:cNvSpPr/>
          <p:nvPr/>
        </p:nvSpPr>
        <p:spPr>
          <a:xfrm>
            <a:off x="5556945" y="2186211"/>
            <a:ext cx="489667" cy="3476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32" name="Text 24"/>
          <p:cNvSpPr/>
          <p:nvPr/>
        </p:nvSpPr>
        <p:spPr>
          <a:xfrm>
            <a:off x="7151638" y="2028527"/>
            <a:ext cx="489667" cy="3476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33" name="Text 25"/>
          <p:cNvSpPr/>
          <p:nvPr/>
        </p:nvSpPr>
        <p:spPr>
          <a:xfrm>
            <a:off x="7151638" y="2405881"/>
            <a:ext cx="921603" cy="3053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endParaRPr lang="en-US" sz="830" dirty="0"/>
          </a:p>
        </p:txBody>
      </p:sp>
      <p:sp>
        <p:nvSpPr>
          <p:cNvPr id="38" name="Text 29"/>
          <p:cNvSpPr/>
          <p:nvPr/>
        </p:nvSpPr>
        <p:spPr>
          <a:xfrm>
            <a:off x="1068065" y="4667344"/>
            <a:ext cx="1516544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830" dirty="0"/>
          </a:p>
        </p:txBody>
      </p:sp>
      <p:sp>
        <p:nvSpPr>
          <p:cNvPr id="43" name="Text 33"/>
          <p:cNvSpPr/>
          <p:nvPr/>
        </p:nvSpPr>
        <p:spPr>
          <a:xfrm>
            <a:off x="2367483" y="3890739"/>
            <a:ext cx="1219170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830" dirty="0"/>
          </a:p>
        </p:txBody>
      </p:sp>
      <p:sp>
        <p:nvSpPr>
          <p:cNvPr id="53" name="Text 41"/>
          <p:cNvSpPr/>
          <p:nvPr/>
        </p:nvSpPr>
        <p:spPr>
          <a:xfrm>
            <a:off x="5556945" y="3890739"/>
            <a:ext cx="1532022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830" dirty="0"/>
          </a:p>
        </p:txBody>
      </p:sp>
      <p:sp>
        <p:nvSpPr>
          <p:cNvPr id="61" name="Text 47"/>
          <p:cNvSpPr/>
          <p:nvPr/>
        </p:nvSpPr>
        <p:spPr>
          <a:xfrm>
            <a:off x="1816224" y="4423618"/>
            <a:ext cx="28603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76" name="Text 59"/>
          <p:cNvSpPr/>
          <p:nvPr/>
        </p:nvSpPr>
        <p:spPr>
          <a:xfrm>
            <a:off x="6600379" y="4423618"/>
            <a:ext cx="28603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78" name="Text 61"/>
          <p:cNvSpPr/>
          <p:nvPr/>
        </p:nvSpPr>
        <p:spPr>
          <a:xfrm>
            <a:off x="5556945" y="5060231"/>
            <a:ext cx="13330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endParaRPr lang="en-US" sz="830" dirty="0"/>
          </a:p>
        </p:txBody>
      </p:sp>
      <p:sp>
        <p:nvSpPr>
          <p:cNvPr id="81" name="Text 63"/>
          <p:cNvSpPr/>
          <p:nvPr/>
        </p:nvSpPr>
        <p:spPr>
          <a:xfrm>
            <a:off x="8195146" y="4423618"/>
            <a:ext cx="286033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82" name="Text 64"/>
          <p:cNvSpPr/>
          <p:nvPr/>
        </p:nvSpPr>
        <p:spPr>
          <a:xfrm>
            <a:off x="7151638" y="4682877"/>
            <a:ext cx="489667" cy="3476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84" name="Text 66"/>
          <p:cNvSpPr/>
          <p:nvPr/>
        </p:nvSpPr>
        <p:spPr>
          <a:xfrm>
            <a:off x="640035" y="5504929"/>
            <a:ext cx="3921457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endParaRPr lang="en-US" sz="83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E8A2D6-517F-4EB4-ABD4-722BCD671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05" y="1420683"/>
            <a:ext cx="5982007" cy="6096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D005C5-4CDC-440A-98C7-6948C08FA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42" y="2251426"/>
            <a:ext cx="6042580" cy="5969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00AE7C-46CC-462A-8E70-B161031C9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99" y="3090927"/>
            <a:ext cx="6124629" cy="590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2077819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/ BOOKING HEALTH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4352330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BOOKING STATUS ANALYSIS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4435041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are bookings distributed by booking status?</a:t>
            </a:r>
            <a:endParaRPr lang="en-US" sz="1190" dirty="0"/>
          </a:p>
        </p:txBody>
      </p:sp>
      <p:sp>
        <p:nvSpPr>
          <p:cNvPr id="8" name="Text 5"/>
          <p:cNvSpPr/>
          <p:nvPr/>
        </p:nvSpPr>
        <p:spPr>
          <a:xfrm>
            <a:off x="7051923" y="1285131"/>
            <a:ext cx="1944804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COLUMN / DONUT CHART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1096826" y="1811089"/>
            <a:ext cx="7224712" cy="1800225"/>
          </a:xfrm>
          <a:prstGeom prst="rect">
            <a:avLst/>
          </a:prstGeom>
        </p:spPr>
      </p:sp>
      <p:sp>
        <p:nvSpPr>
          <p:cNvPr id="10" name="Shape 7"/>
          <p:cNvSpPr/>
          <p:nvPr/>
        </p:nvSpPr>
        <p:spPr>
          <a:xfrm>
            <a:off x="1101589" y="2259955"/>
            <a:ext cx="7219950" cy="4763"/>
          </a:xfrm>
          <a:prstGeom prst="rect">
            <a:avLst/>
          </a:prstGeom>
        </p:spPr>
      </p:sp>
      <p:sp>
        <p:nvSpPr>
          <p:cNvPr id="11" name="Shape 8"/>
          <p:cNvSpPr/>
          <p:nvPr/>
        </p:nvSpPr>
        <p:spPr>
          <a:xfrm>
            <a:off x="1101589" y="2708821"/>
            <a:ext cx="7219950" cy="4763"/>
          </a:xfrm>
          <a:prstGeom prst="rect">
            <a:avLst/>
          </a:prstGeom>
        </p:spPr>
      </p:sp>
      <p:sp>
        <p:nvSpPr>
          <p:cNvPr id="12" name="Shape 9"/>
          <p:cNvSpPr/>
          <p:nvPr/>
        </p:nvSpPr>
        <p:spPr>
          <a:xfrm>
            <a:off x="1101589" y="3157686"/>
            <a:ext cx="7219950" cy="4763"/>
          </a:xfrm>
          <a:prstGeom prst="rect">
            <a:avLst/>
          </a:prstGeom>
        </p:spPr>
      </p:sp>
      <p:sp>
        <p:nvSpPr>
          <p:cNvPr id="16" name="Text 13"/>
          <p:cNvSpPr/>
          <p:nvPr/>
        </p:nvSpPr>
        <p:spPr>
          <a:xfrm>
            <a:off x="3759994" y="2380580"/>
            <a:ext cx="238438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2100541" y="3616648"/>
            <a:ext cx="1431317" cy="9973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60" b="1" kern="0" spc="69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 STATUS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 rot="10800000" flipV="1">
            <a:off x="3436219" y="1891992"/>
            <a:ext cx="6169794" cy="2685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This graph  the distribution of Rapido bookings based</a:t>
            </a:r>
            <a:endParaRPr lang="en-US" dirty="0">
              <a:latin typeface="Calibri (Body)"/>
            </a:endParaRP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on their booking status.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It helps us understand how many</a:t>
            </a:r>
            <a:r>
              <a:rPr lang="en-US" dirty="0">
                <a:latin typeface="Calibri (Body)"/>
              </a:rPr>
              <a:t> </a:t>
            </a:r>
            <a:r>
              <a:rPr lang="en-US" dirty="0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rides were successfully </a:t>
            </a:r>
          </a:p>
          <a:p>
            <a:pPr algn="l">
              <a:lnSpc>
                <a:spcPct val="150000"/>
              </a:lnSpc>
            </a:pPr>
            <a:r>
              <a:rPr lang="en-US" dirty="0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completed and how many rides were</a:t>
            </a:r>
            <a:r>
              <a:rPr lang="en-US" dirty="0">
                <a:latin typeface="Calibri (Body)"/>
              </a:rPr>
              <a:t> </a:t>
            </a:r>
            <a:r>
              <a:rPr lang="en-US" dirty="0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cancelled </a:t>
            </a:r>
            <a:r>
              <a:rPr lang="en-US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or </a:t>
            </a:r>
          </a:p>
          <a:p>
            <a:pPr algn="l">
              <a:lnSpc>
                <a:spcPct val="150000"/>
              </a:lnSpc>
            </a:pPr>
            <a:r>
              <a:rPr lang="en-US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incomplete</a:t>
            </a:r>
            <a:r>
              <a:rPr lang="en-US" dirty="0">
                <a:solidFill>
                  <a:srgbClr val="6B7065"/>
                </a:solidFill>
                <a:latin typeface="Calibri (Body)"/>
                <a:ea typeface="Manrope" pitchFamily="34" charset="-122"/>
                <a:cs typeface="Manrope" pitchFamily="34" charset="-120"/>
              </a:rPr>
              <a:t>.</a:t>
            </a:r>
            <a:endParaRPr lang="en-US" dirty="0">
              <a:latin typeface="Calibri (Body)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8473380" y="4810571"/>
            <a:ext cx="21580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83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4995" y="1280629"/>
            <a:ext cx="1638300" cy="157163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1374" y="1132225"/>
            <a:ext cx="2924175" cy="6477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7ED85E3-1938-422F-8E32-DFEBB4BF9C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215" y="1923110"/>
            <a:ext cx="2837211" cy="1454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134225" y="0"/>
            <a:ext cx="2009775" cy="514350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Shape 1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5" name="Text 2"/>
          <p:cNvSpPr/>
          <p:nvPr/>
        </p:nvSpPr>
        <p:spPr>
          <a:xfrm>
            <a:off x="772567" y="519112"/>
            <a:ext cx="1679644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/ MONEY TRAIL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35" y="752475"/>
            <a:ext cx="3497067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</a:rPr>
              <a:t>BOOKING BY  VEHICEL TYPE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640035" y="1489472"/>
            <a:ext cx="4724772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is the total booking value by vehicle type?</a:t>
            </a:r>
            <a:endParaRPr lang="en-US" sz="1190" dirty="0"/>
          </a:p>
        </p:txBody>
      </p:sp>
      <p:sp>
        <p:nvSpPr>
          <p:cNvPr id="9" name="Shape 6"/>
          <p:cNvSpPr/>
          <p:nvPr/>
        </p:nvSpPr>
        <p:spPr>
          <a:xfrm>
            <a:off x="1096826" y="1811089"/>
            <a:ext cx="5395912" cy="1800225"/>
          </a:xfrm>
          <a:prstGeom prst="rect">
            <a:avLst/>
          </a:prstGeom>
        </p:spPr>
      </p:sp>
      <p:sp>
        <p:nvSpPr>
          <p:cNvPr id="10" name="Shape 7"/>
          <p:cNvSpPr/>
          <p:nvPr/>
        </p:nvSpPr>
        <p:spPr>
          <a:xfrm>
            <a:off x="1101589" y="2259955"/>
            <a:ext cx="5391150" cy="4763"/>
          </a:xfrm>
          <a:prstGeom prst="rect">
            <a:avLst/>
          </a:prstGeom>
        </p:spPr>
      </p:sp>
      <p:sp>
        <p:nvSpPr>
          <p:cNvPr id="11" name="Shape 8"/>
          <p:cNvSpPr/>
          <p:nvPr/>
        </p:nvSpPr>
        <p:spPr>
          <a:xfrm>
            <a:off x="1101589" y="2708821"/>
            <a:ext cx="5391150" cy="4763"/>
          </a:xfrm>
          <a:prstGeom prst="rect">
            <a:avLst/>
          </a:prstGeom>
        </p:spPr>
      </p:sp>
      <p:sp>
        <p:nvSpPr>
          <p:cNvPr id="12" name="Shape 9"/>
          <p:cNvSpPr/>
          <p:nvPr/>
        </p:nvSpPr>
        <p:spPr>
          <a:xfrm>
            <a:off x="1101589" y="3169960"/>
            <a:ext cx="5391150" cy="4763"/>
          </a:xfrm>
          <a:prstGeom prst="rect">
            <a:avLst/>
          </a:prstGeom>
        </p:spPr>
      </p:sp>
      <p:sp>
        <p:nvSpPr>
          <p:cNvPr id="13" name="Text 10"/>
          <p:cNvSpPr/>
          <p:nvPr/>
        </p:nvSpPr>
        <p:spPr>
          <a:xfrm>
            <a:off x="1636514" y="2277740"/>
            <a:ext cx="239985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16" name="Text 13"/>
          <p:cNvSpPr/>
          <p:nvPr/>
        </p:nvSpPr>
        <p:spPr>
          <a:xfrm>
            <a:off x="2681660" y="1877541"/>
            <a:ext cx="239985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18" name="Text 15"/>
          <p:cNvSpPr/>
          <p:nvPr/>
        </p:nvSpPr>
        <p:spPr>
          <a:xfrm>
            <a:off x="2684033" y="3420145"/>
            <a:ext cx="135895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3381439" y="2020564"/>
            <a:ext cx="585351" cy="34952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3722418" y="3420145"/>
            <a:ext cx="149342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760" dirty="0"/>
          </a:p>
        </p:txBody>
      </p:sp>
      <p:sp>
        <p:nvSpPr>
          <p:cNvPr id="22" name="Text 19"/>
          <p:cNvSpPr/>
          <p:nvPr/>
        </p:nvSpPr>
        <p:spPr>
          <a:xfrm>
            <a:off x="4771951" y="1877541"/>
            <a:ext cx="239985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5817096" y="2483495"/>
            <a:ext cx="239985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8377840" y="1444898"/>
            <a:ext cx="308960" cy="13811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7228299" y="2137544"/>
            <a:ext cx="1458501" cy="1619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r">
              <a:spcBef>
                <a:spcPts val="405"/>
              </a:spcBef>
              <a:buNone/>
            </a:pPr>
            <a:r>
              <a:rPr lang="en-US" sz="940" b="1" kern="0" spc="94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BOOKING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7257268" y="2561649"/>
            <a:ext cx="2009775" cy="8571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ts val="1115"/>
              </a:lnSpc>
            </a:pPr>
            <a:r>
              <a:rPr lang="en-US" sz="830" dirty="0"/>
              <a:t>This graph shows the total booking value</a:t>
            </a:r>
          </a:p>
          <a:p>
            <a:pPr>
              <a:lnSpc>
                <a:spcPts val="1115"/>
              </a:lnSpc>
            </a:pPr>
            <a:r>
              <a:rPr lang="en-US" sz="830" dirty="0"/>
              <a:t> generated by each vehicle type. It helps </a:t>
            </a:r>
          </a:p>
          <a:p>
            <a:pPr>
              <a:lnSpc>
                <a:spcPts val="1115"/>
              </a:lnSpc>
            </a:pPr>
            <a:r>
              <a:rPr lang="en-US" sz="830" dirty="0"/>
              <a:t>us compare which vehicle types </a:t>
            </a:r>
          </a:p>
          <a:p>
            <a:pPr>
              <a:lnSpc>
                <a:spcPts val="1115"/>
              </a:lnSpc>
            </a:pPr>
            <a:r>
              <a:rPr lang="en-US" sz="830" dirty="0"/>
              <a:t>contribute more to the overall booking</a:t>
            </a:r>
          </a:p>
          <a:p>
            <a:pPr>
              <a:lnSpc>
                <a:spcPts val="1115"/>
              </a:lnSpc>
            </a:pPr>
            <a:r>
              <a:rPr lang="en-US" sz="830" dirty="0"/>
              <a:t> revenue</a:t>
            </a:r>
          </a:p>
        </p:txBody>
      </p:sp>
      <p:sp>
        <p:nvSpPr>
          <p:cNvPr id="34" name="Text 31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8496523" y="4810571"/>
            <a:ext cx="18571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83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D234C44-3915-49D8-BD37-4D1F4A36A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445" y="1971395"/>
            <a:ext cx="2565406" cy="18002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1647527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/ DEMAND MAP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6141254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AVERAGE RIDE TIME BY DROP LOCATION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4988481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much time does it take to drop the customer at time location?</a:t>
            </a:r>
            <a:endParaRPr lang="en-US" sz="1190" dirty="0"/>
          </a:p>
        </p:txBody>
      </p:sp>
      <p:sp>
        <p:nvSpPr>
          <p:cNvPr id="28" name="Shape 20"/>
          <p:cNvSpPr/>
          <p:nvPr/>
        </p:nvSpPr>
        <p:spPr>
          <a:xfrm>
            <a:off x="4846327" y="2016361"/>
            <a:ext cx="3657600" cy="1876425"/>
          </a:xfrm>
          <a:prstGeom prst="rect">
            <a:avLst/>
          </a:prstGeom>
        </p:spPr>
      </p:sp>
      <p:sp>
        <p:nvSpPr>
          <p:cNvPr id="33" name="Text 25"/>
          <p:cNvSpPr/>
          <p:nvPr/>
        </p:nvSpPr>
        <p:spPr>
          <a:xfrm>
            <a:off x="3994381" y="1688421"/>
            <a:ext cx="4774233" cy="24553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shows the average time taken to drop customers</a:t>
            </a:r>
          </a:p>
          <a:p>
            <a:pPr>
              <a:lnSpc>
                <a:spcPct val="150000"/>
              </a:lnSpc>
            </a:pPr>
            <a:r>
              <a:rPr lang="en-US" dirty="0"/>
              <a:t> at different drop locations.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size of each box represents the average ride</a:t>
            </a:r>
          </a:p>
          <a:p>
            <a:pPr>
              <a:lnSpc>
                <a:spcPct val="150000"/>
              </a:lnSpc>
            </a:pPr>
            <a:r>
              <a:rPr lang="en-US" dirty="0"/>
              <a:t> time for that location.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Larger boxes indicate locations with higher</a:t>
            </a:r>
          </a:p>
          <a:p>
            <a:pPr>
              <a:lnSpc>
                <a:spcPct val="150000"/>
              </a:lnSpc>
            </a:pPr>
            <a:r>
              <a:rPr lang="en-US" dirty="0"/>
              <a:t> average ride time.</a:t>
            </a:r>
          </a:p>
        </p:txBody>
      </p:sp>
      <p:sp>
        <p:nvSpPr>
          <p:cNvPr id="34" name="Text 26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5" name="Text 27"/>
          <p:cNvSpPr/>
          <p:nvPr/>
        </p:nvSpPr>
        <p:spPr>
          <a:xfrm>
            <a:off x="8477622" y="4810571"/>
            <a:ext cx="210287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83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4B2212-C542-495F-9E12-14BC19463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67" y="2128566"/>
            <a:ext cx="2752519" cy="17583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2024226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DRIVER ACTIVITY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6195097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POPULAR DRIVER BY CUSTOMER COUNT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548580" y="1475752"/>
            <a:ext cx="5356280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driver has  the highest number of customers?</a:t>
            </a:r>
            <a:endParaRPr lang="en-US" sz="1190" dirty="0"/>
          </a:p>
        </p:txBody>
      </p:sp>
      <p:sp>
        <p:nvSpPr>
          <p:cNvPr id="28" name="Shape 20"/>
          <p:cNvSpPr/>
          <p:nvPr/>
        </p:nvSpPr>
        <p:spPr>
          <a:xfrm>
            <a:off x="4846327" y="2017775"/>
            <a:ext cx="3657600" cy="1576388"/>
          </a:xfrm>
          <a:prstGeom prst="rect">
            <a:avLst/>
          </a:prstGeom>
        </p:spPr>
      </p:sp>
      <p:sp>
        <p:nvSpPr>
          <p:cNvPr id="32" name="Text 23"/>
          <p:cNvSpPr/>
          <p:nvPr/>
        </p:nvSpPr>
        <p:spPr>
          <a:xfrm>
            <a:off x="3864840" y="1943691"/>
            <a:ext cx="5069854" cy="2681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  <a:ea typeface="Manrope" pitchFamily="34" charset="-122"/>
                <a:cs typeface="Manrope" pitchFamily="34" charset="-120"/>
              </a:rPr>
              <a:t>This graph shows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the number of customers handled </a:t>
            </a:r>
          </a:p>
          <a:p>
            <a:pPr algn="just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by each driver.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The driver names are displayed on the X-axis, and the  </a:t>
            </a:r>
          </a:p>
          <a:p>
            <a:pPr algn="just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number of customers is displayed on the Y-axis.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From the char t, we can identify which driver has the</a:t>
            </a:r>
          </a:p>
          <a:p>
            <a:pPr algn="just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 highest number of customers.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The driver with the tallest column has served the</a:t>
            </a:r>
          </a:p>
          <a:p>
            <a:pPr algn="just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libri body"/>
              </a:rPr>
              <a:t> highest number of customers.</a:t>
            </a:r>
          </a:p>
        </p:txBody>
      </p:sp>
      <p:sp>
        <p:nvSpPr>
          <p:cNvPr id="33" name="Text 24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4" name="Text 25"/>
          <p:cNvSpPr/>
          <p:nvPr/>
        </p:nvSpPr>
        <p:spPr>
          <a:xfrm>
            <a:off x="8479408" y="4810571"/>
            <a:ext cx="20796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83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D70D2BA-D497-44C6-BCB9-26E95FD7D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06" y="2165692"/>
            <a:ext cx="3446228" cy="19057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5" name="Text 2"/>
          <p:cNvSpPr/>
          <p:nvPr/>
        </p:nvSpPr>
        <p:spPr>
          <a:xfrm>
            <a:off x="772567" y="519112"/>
            <a:ext cx="2369195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/ CUSTOMER ACTIVITY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35" y="1040524"/>
            <a:ext cx="4940958" cy="10723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NUMBER OF BOOKING BY PICKUP</a:t>
            </a:r>
          </a:p>
          <a:p>
            <a:pPr marL="0" indent="0" algn="ctr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 LOCATION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640035" y="1431509"/>
            <a:ext cx="1676355" cy="23332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640035" y="1664838"/>
            <a:ext cx="4916217" cy="28377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many booking are made in each pickup location ?</a:t>
            </a:r>
            <a:endParaRPr lang="en-US" sz="1190" dirty="0"/>
          </a:p>
        </p:txBody>
      </p:sp>
      <p:sp>
        <p:nvSpPr>
          <p:cNvPr id="12" name="Text 8"/>
          <p:cNvSpPr/>
          <p:nvPr/>
        </p:nvSpPr>
        <p:spPr>
          <a:xfrm>
            <a:off x="6675165" y="2133005"/>
            <a:ext cx="255754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30" dirty="0"/>
          </a:p>
        </p:txBody>
      </p:sp>
      <p:sp>
        <p:nvSpPr>
          <p:cNvPr id="29" name="Text 21"/>
          <p:cNvSpPr/>
          <p:nvPr/>
        </p:nvSpPr>
        <p:spPr>
          <a:xfrm>
            <a:off x="5253070" y="2571750"/>
            <a:ext cx="4042279" cy="183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just">
              <a:lnSpc>
                <a:spcPct val="150000"/>
              </a:lnSpc>
              <a:spcBef>
                <a:spcPts val="2025"/>
              </a:spcBef>
            </a:pPr>
            <a:endParaRPr lang="en-US" sz="860" dirty="0">
              <a:solidFill>
                <a:schemeClr val="bg1"/>
              </a:solidFill>
            </a:endParaRPr>
          </a:p>
        </p:txBody>
      </p:sp>
      <p:sp>
        <p:nvSpPr>
          <p:cNvPr id="32" name="Text 23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3" name="Text 24"/>
          <p:cNvSpPr/>
          <p:nvPr/>
        </p:nvSpPr>
        <p:spPr>
          <a:xfrm>
            <a:off x="8475538" y="4810571"/>
            <a:ext cx="21299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83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DB524CF-9C25-475B-A681-1A78574B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11" y="2213129"/>
            <a:ext cx="2404714" cy="180289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2173A02-8229-48B6-8DFF-4316ADBEBF39}"/>
              </a:ext>
            </a:extLst>
          </p:cNvPr>
          <p:cNvSpPr txBox="1"/>
          <p:nvPr/>
        </p:nvSpPr>
        <p:spPr>
          <a:xfrm flipH="1">
            <a:off x="4271291" y="1724473"/>
            <a:ext cx="4417242" cy="3375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Bef>
                <a:spcPts val="202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ea typeface="Manrope" pitchFamily="34" charset="-122"/>
                <a:cs typeface="Calibri Light" panose="020F0302020204030204" pitchFamily="34" charset="0"/>
              </a:rPr>
              <a:t>This </a:t>
            </a:r>
            <a:r>
              <a:rPr lang="en-US" dirty="0">
                <a:latin typeface="Calibri (Body)"/>
                <a:ea typeface="Calibri Light" panose="020F0302020204030204" pitchFamily="34" charset="0"/>
                <a:cs typeface="Calibri Light" panose="020F0302020204030204" pitchFamily="34" charset="0"/>
              </a:rPr>
              <a:t>graph</a:t>
            </a:r>
            <a:r>
              <a:rPr lang="en-US" dirty="0">
                <a:latin typeface="Calibri (Body)"/>
                <a:ea typeface="Manrope" pitchFamily="34" charset="-122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(Body)"/>
              </a:rPr>
              <a:t>chart shows the number of bookings made from each pickup location. </a:t>
            </a:r>
          </a:p>
          <a:p>
            <a:pPr marL="285750" indent="-285750" algn="just">
              <a:spcBef>
                <a:spcPts val="202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The pickup locations are displayed on the X-axis, and the number of bookings is displayed on the Y-axis. compare booking demand across different pickup locations. </a:t>
            </a:r>
          </a:p>
          <a:p>
            <a:pPr marL="285750" indent="-285750" algn="just">
              <a:lnSpc>
                <a:spcPct val="150000"/>
              </a:lnSpc>
              <a:spcBef>
                <a:spcPts val="202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The location with the tallest column has the highest number of bookings.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 (Body)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1619667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/ VEHICLE MIX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4459612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CUSTOMER BY VEHICLE TYPE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3736784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vehicle type used by the most customers?</a:t>
            </a:r>
            <a:endParaRPr lang="en-US" sz="1190" dirty="0"/>
          </a:p>
        </p:txBody>
      </p:sp>
      <p:sp>
        <p:nvSpPr>
          <p:cNvPr id="8" name="Shape 5"/>
          <p:cNvSpPr/>
          <p:nvPr/>
        </p:nvSpPr>
        <p:spPr>
          <a:xfrm>
            <a:off x="1096826" y="1811089"/>
            <a:ext cx="7224712" cy="1800225"/>
          </a:xfrm>
          <a:prstGeom prst="rect">
            <a:avLst/>
          </a:prstGeom>
        </p:spPr>
      </p:sp>
      <p:sp>
        <p:nvSpPr>
          <p:cNvPr id="9" name="Shape 6"/>
          <p:cNvSpPr/>
          <p:nvPr/>
        </p:nvSpPr>
        <p:spPr>
          <a:xfrm>
            <a:off x="1101589" y="2259955"/>
            <a:ext cx="7219950" cy="4763"/>
          </a:xfrm>
          <a:prstGeom prst="rect">
            <a:avLst/>
          </a:prstGeom>
        </p:spPr>
      </p:sp>
      <p:sp>
        <p:nvSpPr>
          <p:cNvPr id="10" name="Shape 7"/>
          <p:cNvSpPr/>
          <p:nvPr/>
        </p:nvSpPr>
        <p:spPr>
          <a:xfrm>
            <a:off x="1101589" y="2708821"/>
            <a:ext cx="7219950" cy="4763"/>
          </a:xfrm>
          <a:prstGeom prst="rect">
            <a:avLst/>
          </a:prstGeom>
        </p:spPr>
      </p:sp>
      <p:sp>
        <p:nvSpPr>
          <p:cNvPr id="11" name="Shape 8"/>
          <p:cNvSpPr/>
          <p:nvPr/>
        </p:nvSpPr>
        <p:spPr>
          <a:xfrm>
            <a:off x="1101589" y="3157686"/>
            <a:ext cx="7219950" cy="4763"/>
          </a:xfrm>
          <a:prstGeom prst="rect">
            <a:avLst/>
          </a:prstGeom>
        </p:spPr>
      </p:sp>
      <p:sp>
        <p:nvSpPr>
          <p:cNvPr id="12" name="Text 9"/>
          <p:cNvSpPr/>
          <p:nvPr/>
        </p:nvSpPr>
        <p:spPr>
          <a:xfrm>
            <a:off x="1996380" y="1877541"/>
            <a:ext cx="238438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3759994" y="1969145"/>
            <a:ext cx="238438" cy="1285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60" dirty="0"/>
          </a:p>
        </p:txBody>
      </p:sp>
      <p:sp>
        <p:nvSpPr>
          <p:cNvPr id="27" name="Text 24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8476804" y="4810571"/>
            <a:ext cx="21135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83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4984" y="4173101"/>
            <a:ext cx="3109913" cy="17119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535C4DC-4AB3-42F9-972D-8D9827D18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495" y="2198310"/>
            <a:ext cx="2423681" cy="185576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AEF3330-E949-46E6-9419-EF5EF6BBB82B}"/>
              </a:ext>
            </a:extLst>
          </p:cNvPr>
          <p:cNvSpPr txBox="1"/>
          <p:nvPr/>
        </p:nvSpPr>
        <p:spPr>
          <a:xfrm rot="10800000" flipH="1" flipV="1">
            <a:off x="3998432" y="1764716"/>
            <a:ext cx="43231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ea typeface="Calibri Light" panose="020F0302020204030204" pitchFamily="34" charset="0"/>
                <a:cs typeface="Calibri Light" panose="020F0302020204030204" pitchFamily="34" charset="0"/>
              </a:rPr>
              <a:t>This graph shows the number of customers using each vehicle type.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ea typeface="Calibri Light" panose="020F0302020204030204" pitchFamily="34" charset="0"/>
                <a:cs typeface="Calibri Light" panose="020F0302020204030204" pitchFamily="34" charset="0"/>
              </a:rPr>
              <a:t>The vehicle types are displayed on the X-axis, and the number of customers is displayed on the Y-axis.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ea typeface="Calibri Light" panose="020F0302020204030204" pitchFamily="34" charset="0"/>
                <a:cs typeface="Calibri Light" panose="020F0302020204030204" pitchFamily="34" charset="0"/>
              </a:rPr>
              <a:t>This chart helps us understand which vehicle type is most preferred by customers.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  <a:ea typeface="Calibri Light" panose="020F0302020204030204" pitchFamily="34" charset="0"/>
                <a:cs typeface="Calibri Light" panose="020F0302020204030204" pitchFamily="34" charset="0"/>
              </a:rPr>
              <a:t> The vehicle type with the tallest column is the most used by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 (Body)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2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2370646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 / CANCELLATION LENS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7032367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</a:rPr>
              <a:t>DRIVER WISE BOOKING COUNT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5709084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driver has the most customer ?</a:t>
            </a:r>
            <a:endParaRPr lang="en-US" sz="1190" dirty="0"/>
          </a:p>
        </p:txBody>
      </p:sp>
      <p:sp>
        <p:nvSpPr>
          <p:cNvPr id="11" name="Text 7"/>
          <p:cNvSpPr/>
          <p:nvPr/>
        </p:nvSpPr>
        <p:spPr>
          <a:xfrm>
            <a:off x="4023420" y="2133005"/>
            <a:ext cx="255754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30" dirty="0"/>
          </a:p>
        </p:txBody>
      </p:sp>
      <p:sp>
        <p:nvSpPr>
          <p:cNvPr id="24" name="Shape 17"/>
          <p:cNvSpPr/>
          <p:nvPr/>
        </p:nvSpPr>
        <p:spPr>
          <a:xfrm>
            <a:off x="4846327" y="2017961"/>
            <a:ext cx="3657600" cy="1947862"/>
          </a:xfrm>
          <a:prstGeom prst="rect">
            <a:avLst/>
          </a:prstGeom>
        </p:spPr>
      </p:sp>
      <p:sp>
        <p:nvSpPr>
          <p:cNvPr id="30" name="Text 23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1" name="Text 24"/>
          <p:cNvSpPr/>
          <p:nvPr/>
        </p:nvSpPr>
        <p:spPr>
          <a:xfrm>
            <a:off x="8484766" y="4810571"/>
            <a:ext cx="201000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83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AFD479-13BA-4DAB-8759-0E794AF2D3A2}"/>
              </a:ext>
            </a:extLst>
          </p:cNvPr>
          <p:cNvSpPr/>
          <p:nvPr/>
        </p:nvSpPr>
        <p:spPr>
          <a:xfrm>
            <a:off x="4279174" y="1959845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bar chart shows the number of customers served by each driver.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driver names are shown on the Y-axis, and the number of customers is shown on the X-axis.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longest bar represents the driver who has the highest number of customers.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B7969C0-9630-4B54-8AC8-6BF275BBC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02" y="2133005"/>
            <a:ext cx="2922477" cy="192107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571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2260848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 / PAYMENT BEHAVIOR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5098472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BOOKINGS BY PAYMENT METHOD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4470641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many customer gave the highest rating?</a:t>
            </a:r>
            <a:endParaRPr lang="en-US" sz="1190" dirty="0"/>
          </a:p>
        </p:txBody>
      </p:sp>
      <p:sp>
        <p:nvSpPr>
          <p:cNvPr id="9" name="Text 5"/>
          <p:cNvSpPr/>
          <p:nvPr/>
        </p:nvSpPr>
        <p:spPr>
          <a:xfrm>
            <a:off x="1408584" y="2651894"/>
            <a:ext cx="543647" cy="3952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2590" dirty="0"/>
          </a:p>
        </p:txBody>
      </p:sp>
      <p:sp>
        <p:nvSpPr>
          <p:cNvPr id="10" name="Text 6"/>
          <p:cNvSpPr/>
          <p:nvPr/>
        </p:nvSpPr>
        <p:spPr>
          <a:xfrm>
            <a:off x="1323156" y="3102843"/>
            <a:ext cx="765855" cy="12382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720" dirty="0"/>
          </a:p>
        </p:txBody>
      </p:sp>
      <p:sp>
        <p:nvSpPr>
          <p:cNvPr id="12" name="Text 8"/>
          <p:cNvSpPr/>
          <p:nvPr/>
        </p:nvSpPr>
        <p:spPr>
          <a:xfrm>
            <a:off x="3282776" y="2240161"/>
            <a:ext cx="479509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0"/>
              </a:spcAft>
              <a:buNone/>
            </a:pPr>
            <a:endParaRPr lang="en-US" sz="1040" dirty="0"/>
          </a:p>
        </p:txBody>
      </p:sp>
      <p:sp>
        <p:nvSpPr>
          <p:cNvPr id="13" name="Text 9"/>
          <p:cNvSpPr/>
          <p:nvPr/>
        </p:nvSpPr>
        <p:spPr>
          <a:xfrm>
            <a:off x="3699049" y="2240161"/>
            <a:ext cx="303736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40" dirty="0"/>
          </a:p>
        </p:txBody>
      </p:sp>
      <p:sp>
        <p:nvSpPr>
          <p:cNvPr id="15" name="Text 11"/>
          <p:cNvSpPr/>
          <p:nvPr/>
        </p:nvSpPr>
        <p:spPr>
          <a:xfrm>
            <a:off x="3282776" y="2552179"/>
            <a:ext cx="333821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90"/>
              </a:spcAft>
              <a:buNone/>
            </a:pPr>
            <a:endParaRPr lang="en-US" sz="1040" dirty="0"/>
          </a:p>
        </p:txBody>
      </p:sp>
      <p:sp>
        <p:nvSpPr>
          <p:cNvPr id="16" name="Text 12"/>
          <p:cNvSpPr/>
          <p:nvPr/>
        </p:nvSpPr>
        <p:spPr>
          <a:xfrm>
            <a:off x="3586981" y="2552179"/>
            <a:ext cx="303736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40" dirty="0"/>
          </a:p>
        </p:txBody>
      </p:sp>
      <p:sp>
        <p:nvSpPr>
          <p:cNvPr id="19" name="Text 15"/>
          <p:cNvSpPr/>
          <p:nvPr/>
        </p:nvSpPr>
        <p:spPr>
          <a:xfrm>
            <a:off x="4133924" y="2864197"/>
            <a:ext cx="303736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040" dirty="0"/>
          </a:p>
        </p:txBody>
      </p:sp>
      <p:sp>
        <p:nvSpPr>
          <p:cNvPr id="21" name="Text 17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2" name="Text 18"/>
          <p:cNvSpPr/>
          <p:nvPr/>
        </p:nvSpPr>
        <p:spPr>
          <a:xfrm>
            <a:off x="8472339" y="4810571"/>
            <a:ext cx="2171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83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9DB56-075B-4653-AA6D-A73B557A64B2}"/>
              </a:ext>
            </a:extLst>
          </p:cNvPr>
          <p:cNvSpPr txBox="1"/>
          <p:nvPr/>
        </p:nvSpPr>
        <p:spPr>
          <a:xfrm>
            <a:off x="4021020" y="1719043"/>
            <a:ext cx="44695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column chart shows the number of customers for each rating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The rating is shown on the X-axis, and the number of customers is shown on the Y-axis.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chart helps us identify how many customers gave the highest rating. The tallest column represents the rating given by the highest number of customers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3155D5A-E2F2-4047-8BEC-2AA2C5802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59" y="2205345"/>
            <a:ext cx="2766037" cy="2185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2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Shape 1"/>
          <p:cNvSpPr/>
          <p:nvPr/>
        </p:nvSpPr>
        <p:spPr>
          <a:xfrm>
            <a:off x="24699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5" name="Text 2"/>
          <p:cNvSpPr/>
          <p:nvPr/>
        </p:nvSpPr>
        <p:spPr>
          <a:xfrm>
            <a:off x="2601367" y="519112"/>
            <a:ext cx="2378675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/ CUSTOMER FRICTION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468835" y="752475"/>
            <a:ext cx="6171938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</a:rPr>
              <a:t>DRIVER WISE CUSTOMER COUNT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24688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2468835" y="1489472"/>
            <a:ext cx="4235954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driver has the highest number of customer?</a:t>
            </a:r>
            <a:endParaRPr lang="en-US" sz="1190" dirty="0"/>
          </a:p>
        </p:txBody>
      </p:sp>
      <p:sp>
        <p:nvSpPr>
          <p:cNvPr id="30" name="Text 22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1" name="Text 23"/>
          <p:cNvSpPr/>
          <p:nvPr/>
        </p:nvSpPr>
        <p:spPr>
          <a:xfrm>
            <a:off x="8476506" y="4810571"/>
            <a:ext cx="211738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n-US" sz="83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E4BF7CF-BAE2-48A9-8FBF-24807F0F1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35" y="1904317"/>
            <a:ext cx="2511207" cy="161371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212974D-09D0-4039-A77B-C13A71152312}"/>
              </a:ext>
            </a:extLst>
          </p:cNvPr>
          <p:cNvSpPr txBox="1"/>
          <p:nvPr/>
        </p:nvSpPr>
        <p:spPr>
          <a:xfrm>
            <a:off x="5529358" y="1805702"/>
            <a:ext cx="34121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donut chart shows the distribution of customers across different drivers.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section represents the number of customers served by a driver.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largest section represents the driver with the highest number of customers.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2043380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/ DRIVER FRICTION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5822134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</a:rPr>
              <a:t>CANCELED BOOKING BY DRIVER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3880053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0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driver has the most cancelled ride?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023420" y="3284934"/>
            <a:ext cx="255754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830" dirty="0"/>
          </a:p>
        </p:txBody>
      </p:sp>
      <p:sp>
        <p:nvSpPr>
          <p:cNvPr id="28" name="Shape 20"/>
          <p:cNvSpPr/>
          <p:nvPr/>
        </p:nvSpPr>
        <p:spPr>
          <a:xfrm>
            <a:off x="4846327" y="2017775"/>
            <a:ext cx="3657600" cy="1576388"/>
          </a:xfrm>
          <a:prstGeom prst="rect">
            <a:avLst/>
          </a:prstGeom>
        </p:spPr>
      </p:sp>
      <p:sp>
        <p:nvSpPr>
          <p:cNvPr id="33" name="Text 24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4" name="Text 25"/>
          <p:cNvSpPr/>
          <p:nvPr/>
        </p:nvSpPr>
        <p:spPr>
          <a:xfrm>
            <a:off x="8472339" y="4810571"/>
            <a:ext cx="2171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83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C48691-7131-46F0-AF7F-E322339B032B}"/>
              </a:ext>
            </a:extLst>
          </p:cNvPr>
          <p:cNvSpPr txBox="1"/>
          <p:nvPr/>
        </p:nvSpPr>
        <p:spPr>
          <a:xfrm>
            <a:off x="4846327" y="1358949"/>
            <a:ext cx="28598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column chart shows the number of cancelled rides for each driver.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driver names are shown on the X-axis, and the number of cancelled rides is shown on the Y-axis.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tallest column represents the driver with the highest number of cancelled rides.”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1102F81-647E-4EB3-BA32-57ED3CEFF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52" y="2190512"/>
            <a:ext cx="3008681" cy="19519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1381110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 / DISTANCE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4520945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RIDE DISTANCE BY DRIVER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4413081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driver has highest ride distance?</a:t>
            </a:r>
            <a:endParaRPr lang="en-US" sz="1190" dirty="0"/>
          </a:p>
        </p:txBody>
      </p:sp>
      <p:sp>
        <p:nvSpPr>
          <p:cNvPr id="28" name="Shape 20"/>
          <p:cNvSpPr/>
          <p:nvPr/>
        </p:nvSpPr>
        <p:spPr>
          <a:xfrm>
            <a:off x="4846327" y="2015877"/>
            <a:ext cx="3657600" cy="1528763"/>
          </a:xfrm>
          <a:prstGeom prst="rect">
            <a:avLst/>
          </a:prstGeom>
        </p:spPr>
      </p:sp>
      <p:sp>
        <p:nvSpPr>
          <p:cNvPr id="30" name="Text 21"/>
          <p:cNvSpPr/>
          <p:nvPr/>
        </p:nvSpPr>
        <p:spPr>
          <a:xfrm>
            <a:off x="5216798" y="2417043"/>
            <a:ext cx="421370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endParaRPr lang="en-US" sz="830" dirty="0"/>
          </a:p>
        </p:txBody>
      </p:sp>
      <p:sp>
        <p:nvSpPr>
          <p:cNvPr id="33" name="Text 24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4" name="Text 25"/>
          <p:cNvSpPr/>
          <p:nvPr/>
        </p:nvSpPr>
        <p:spPr>
          <a:xfrm>
            <a:off x="8454479" y="4810571"/>
            <a:ext cx="240372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83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3258D47-D60B-40E3-A374-FE9554584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532" y="2171462"/>
            <a:ext cx="2614591" cy="188261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D211CBA-1C82-49D7-9FAB-FC4EDB32A2C9}"/>
              </a:ext>
            </a:extLst>
          </p:cNvPr>
          <p:cNvSpPr txBox="1"/>
          <p:nvPr/>
        </p:nvSpPr>
        <p:spPr>
          <a:xfrm>
            <a:off x="4657917" y="1681609"/>
            <a:ext cx="30807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pie chart shows the distribution of total ride distance across different drivers.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slice represents the ride distance covered by a driver.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largest slice represents the driver with the highest total ride distance.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5" name="Text 2"/>
          <p:cNvSpPr/>
          <p:nvPr/>
        </p:nvSpPr>
        <p:spPr>
          <a:xfrm>
            <a:off x="772567" y="519112"/>
            <a:ext cx="1425997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 / DURATION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35" y="752475"/>
            <a:ext cx="4656959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</a:rPr>
              <a:t>BOOKING BY CUSTOMER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640035" y="1489472"/>
            <a:ext cx="4485442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customer has the highest number of booking ?</a:t>
            </a:r>
            <a:endParaRPr lang="en-US" sz="1190" dirty="0"/>
          </a:p>
        </p:txBody>
      </p:sp>
      <p:sp>
        <p:nvSpPr>
          <p:cNvPr id="32" name="Text 23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3" name="Text 24"/>
          <p:cNvSpPr/>
          <p:nvPr/>
        </p:nvSpPr>
        <p:spPr>
          <a:xfrm>
            <a:off x="8477622" y="4810571"/>
            <a:ext cx="210287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83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D477098-E7D5-4FA4-BC31-686F50009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19" y="1846906"/>
            <a:ext cx="3227822" cy="238756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4DEB13B-C206-48CF-9B7F-8DA0BF817492}"/>
              </a:ext>
            </a:extLst>
          </p:cNvPr>
          <p:cNvSpPr txBox="1"/>
          <p:nvPr/>
        </p:nvSpPr>
        <p:spPr>
          <a:xfrm>
            <a:off x="4639751" y="1583374"/>
            <a:ext cx="32952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</a:t>
            </a:r>
            <a:r>
              <a:rPr lang="en-US" dirty="0" err="1">
                <a:solidFill>
                  <a:schemeClr val="bg1"/>
                </a:solidFill>
              </a:rPr>
              <a:t>treemap</a:t>
            </a:r>
            <a:r>
              <a:rPr lang="en-US" dirty="0">
                <a:solidFill>
                  <a:schemeClr val="bg1"/>
                </a:solidFill>
              </a:rPr>
              <a:t> shows the number of bookings made by each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Each box represents a customer, and the size of the box represents the number of bookings.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largest box represents the customer with the highest number of bookings.”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1935130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 / FEEDBACK LOOP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4966908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</a:rPr>
              <a:t>BOOKING BY VEHICLE TYPE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4604913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vehicle type has the most customer?</a:t>
            </a:r>
            <a:endParaRPr lang="en-US" sz="1190" dirty="0"/>
          </a:p>
        </p:txBody>
      </p:sp>
      <p:sp>
        <p:nvSpPr>
          <p:cNvPr id="11" name="Text 7"/>
          <p:cNvSpPr/>
          <p:nvPr/>
        </p:nvSpPr>
        <p:spPr>
          <a:xfrm>
            <a:off x="873398" y="2832720"/>
            <a:ext cx="1555529" cy="7667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5040" b="1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[n.n]</a:t>
            </a:r>
            <a:endParaRPr lang="en-US" sz="5040" dirty="0"/>
          </a:p>
        </p:txBody>
      </p:sp>
      <p:sp>
        <p:nvSpPr>
          <p:cNvPr id="19" name="Text 14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8458721" y="4810571"/>
            <a:ext cx="234858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83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A547B9F-3AAB-4F80-84AD-F2D7B9362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67" y="1989515"/>
            <a:ext cx="2799116" cy="14699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2B0809D-4D1E-44B2-ADF9-F496FDDD4324}"/>
              </a:ext>
            </a:extLst>
          </p:cNvPr>
          <p:cNvSpPr txBox="1"/>
          <p:nvPr/>
        </p:nvSpPr>
        <p:spPr>
          <a:xfrm>
            <a:off x="4400166" y="1699022"/>
            <a:ext cx="37987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pie chart shows the distribution of customers across different vehicle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Each slice represents the number of customers using a particular vehicle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The largest slice represents the vehicle type used by the highest number of customers.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2449584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 / EXCEPTION ANALYSIS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35" y="752475"/>
            <a:ext cx="4898224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</a:rPr>
              <a:t>BOOKING BY PAYMENT</a:t>
            </a:r>
            <a:endParaRPr lang="en-US" sz="2950" b="1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91270"/>
            <a:ext cx="4407471" cy="20775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many payment types are used by customers?</a:t>
            </a:r>
            <a:endParaRPr lang="en-US" sz="1190" dirty="0"/>
          </a:p>
        </p:txBody>
      </p:sp>
      <p:sp>
        <p:nvSpPr>
          <p:cNvPr id="28" name="Shape 20"/>
          <p:cNvSpPr/>
          <p:nvPr/>
        </p:nvSpPr>
        <p:spPr>
          <a:xfrm>
            <a:off x="4846327" y="2017291"/>
            <a:ext cx="3657600" cy="1428750"/>
          </a:xfrm>
          <a:prstGeom prst="rect">
            <a:avLst/>
          </a:prstGeom>
        </p:spPr>
      </p:sp>
      <p:sp>
        <p:nvSpPr>
          <p:cNvPr id="32" name="Text 24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33" name="Text 25"/>
          <p:cNvSpPr/>
          <p:nvPr/>
        </p:nvSpPr>
        <p:spPr>
          <a:xfrm>
            <a:off x="8460507" y="4810571"/>
            <a:ext cx="232537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83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1EC97E9-2A87-4BAC-830F-0DD564D5D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981" y="1921227"/>
            <a:ext cx="2311519" cy="193714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4B67A9F-3149-4556-8C4C-5F36F97B1FC1}"/>
              </a:ext>
            </a:extLst>
          </p:cNvPr>
          <p:cNvSpPr txBox="1"/>
          <p:nvPr/>
        </p:nvSpPr>
        <p:spPr>
          <a:xfrm>
            <a:off x="3974702" y="1874135"/>
            <a:ext cx="365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pie chart shows how many customers use each payment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helps us understand the payment preferences of customers and identify the most commonly used payment type.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Text 1"/>
          <p:cNvSpPr/>
          <p:nvPr/>
        </p:nvSpPr>
        <p:spPr>
          <a:xfrm>
            <a:off x="772567" y="519112"/>
            <a:ext cx="1242387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 / RHYTHM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57751" y="752475"/>
            <a:ext cx="8149819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950" b="1" kern="0" spc="-103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</a:rPr>
              <a:t>CANCELLED BOOKING BY PAYMENT METHOD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640035" y="1285131"/>
            <a:ext cx="1676355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83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 QUESTION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640035" y="1489472"/>
            <a:ext cx="3290240" cy="2095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many payment types are used by customer?</a:t>
            </a:r>
            <a:endParaRPr lang="en-US" sz="1190" dirty="0"/>
          </a:p>
        </p:txBody>
      </p:sp>
      <p:sp>
        <p:nvSpPr>
          <p:cNvPr id="8" name="Shape 5"/>
          <p:cNvSpPr/>
          <p:nvPr/>
        </p:nvSpPr>
        <p:spPr>
          <a:xfrm>
            <a:off x="640556" y="2017775"/>
            <a:ext cx="7862887" cy="1952625"/>
          </a:xfrm>
          <a:prstGeom prst="rect">
            <a:avLst/>
          </a:prstGeom>
        </p:spPr>
      </p:sp>
      <p:sp>
        <p:nvSpPr>
          <p:cNvPr id="9" name="Shape 6"/>
          <p:cNvSpPr/>
          <p:nvPr/>
        </p:nvSpPr>
        <p:spPr>
          <a:xfrm>
            <a:off x="645319" y="2504256"/>
            <a:ext cx="7858125" cy="4763"/>
          </a:xfrm>
          <a:prstGeom prst="rect">
            <a:avLst/>
          </a:prstGeom>
        </p:spPr>
      </p:sp>
      <p:sp>
        <p:nvSpPr>
          <p:cNvPr id="10" name="Shape 7"/>
          <p:cNvSpPr/>
          <p:nvPr/>
        </p:nvSpPr>
        <p:spPr>
          <a:xfrm>
            <a:off x="645319" y="2991669"/>
            <a:ext cx="7858125" cy="4763"/>
          </a:xfrm>
          <a:prstGeom prst="rect">
            <a:avLst/>
          </a:prstGeom>
        </p:spPr>
      </p:sp>
      <p:sp>
        <p:nvSpPr>
          <p:cNvPr id="11" name="Shape 8"/>
          <p:cNvSpPr/>
          <p:nvPr/>
        </p:nvSpPr>
        <p:spPr>
          <a:xfrm>
            <a:off x="645319" y="3479081"/>
            <a:ext cx="7858125" cy="4763"/>
          </a:xfrm>
          <a:prstGeom prst="rect">
            <a:avLst/>
          </a:prstGeom>
        </p:spPr>
      </p:sp>
      <p:sp>
        <p:nvSpPr>
          <p:cNvPr id="20" name="Text 16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8458721" y="4810571"/>
            <a:ext cx="234858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83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319" y="2504256"/>
            <a:ext cx="7858125" cy="476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07CDDDA-C2B2-4D0A-8985-24BC1741AD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93" y="1912740"/>
            <a:ext cx="2724249" cy="228765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DA20F98-C1B4-457D-A814-D8937B3A6D20}"/>
              </a:ext>
            </a:extLst>
          </p:cNvPr>
          <p:cNvSpPr txBox="1"/>
          <p:nvPr/>
        </p:nvSpPr>
        <p:spPr>
          <a:xfrm>
            <a:off x="4255198" y="2114506"/>
            <a:ext cx="39314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This column chart shows the number of customers using different payment types.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helps us compare the payment types and identify which payment type is used by the most customers.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5AB2CDF-6C02-4B74-BE8B-92D5E19B0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62411" cy="5155774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A0838D5C-9CE1-4DF8-9EB1-61610DBF2E6A}"/>
              </a:ext>
            </a:extLst>
          </p:cNvPr>
          <p:cNvSpPr/>
          <p:nvPr/>
        </p:nvSpPr>
        <p:spPr>
          <a:xfrm>
            <a:off x="772567" y="519112"/>
            <a:ext cx="1500872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/ SYNTHESIS</a:t>
            </a:r>
            <a:endParaRPr lang="en-US" sz="9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51FC34-8ADF-4120-9147-2B526C5BCA3A}"/>
              </a:ext>
            </a:extLst>
          </p:cNvPr>
          <p:cNvSpPr/>
          <p:nvPr/>
        </p:nvSpPr>
        <p:spPr>
          <a:xfrm>
            <a:off x="640035" y="752475"/>
            <a:ext cx="7098612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</a:rPr>
              <a:t>BOOKING BY DRIVER AND BOOKNGS STATUS</a:t>
            </a:r>
            <a:endParaRPr lang="en-US" sz="2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D6450B-8448-4556-B939-31BC3A942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42" y="1952753"/>
            <a:ext cx="3198016" cy="20313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BAA62B-CA9B-40DD-9799-62FFD4C2F72F}"/>
              </a:ext>
            </a:extLst>
          </p:cNvPr>
          <p:cNvSpPr txBox="1"/>
          <p:nvPr/>
        </p:nvSpPr>
        <p:spPr>
          <a:xfrm>
            <a:off x="557188" y="1264204"/>
            <a:ext cx="620569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Manrope"/>
                <a:ea typeface="Manrope"/>
              </a:rPr>
              <a:t>How many ride are completed ,incomplete and cancelled by each driver ?</a:t>
            </a:r>
            <a:endParaRPr lang="en-IN" sz="1050" dirty="0">
              <a:latin typeface="Manrope"/>
              <a:ea typeface="Manrop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E37270-9611-4D57-9589-ACD894F0A7C6}"/>
              </a:ext>
            </a:extLst>
          </p:cNvPr>
          <p:cNvSpPr txBox="1"/>
          <p:nvPr/>
        </p:nvSpPr>
        <p:spPr>
          <a:xfrm>
            <a:off x="4848160" y="2098824"/>
            <a:ext cx="3706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chart shows the number of completed, incomplete, and cancelled rides for each driver.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It helps us compare the ride status of each driver and understand their overall ride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774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411" y="-12274"/>
            <a:ext cx="9162411" cy="51557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1152" y="57150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5" name="Text 2"/>
          <p:cNvSpPr/>
          <p:nvPr/>
        </p:nvSpPr>
        <p:spPr>
          <a:xfrm>
            <a:off x="772567" y="519112"/>
            <a:ext cx="1500872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8A8C8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/ SYNTHESIS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35" y="730293"/>
            <a:ext cx="5036609" cy="474619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11130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RIDE TIME BY DROP LOCATION 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640035" y="1352932"/>
            <a:ext cx="3100053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120" dirty="0">
                <a:solidFill>
                  <a:srgbClr val="43473E"/>
                </a:solidFill>
                <a:latin typeface="Manrope" pitchFamily="34" charset="0"/>
                <a:ea typeface="Manrope" pitchFamily="34" charset="-122"/>
              </a:rPr>
              <a:t>What is the total ride time for each drop location?</a:t>
            </a:r>
            <a:endParaRPr lang="en-US" sz="1120" dirty="0"/>
          </a:p>
        </p:txBody>
      </p:sp>
      <p:sp>
        <p:nvSpPr>
          <p:cNvPr id="36" name="Text 33"/>
          <p:cNvSpPr/>
          <p:nvPr/>
        </p:nvSpPr>
        <p:spPr>
          <a:xfrm>
            <a:off x="7315274" y="1026765"/>
            <a:ext cx="1288241" cy="6048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3960" dirty="0"/>
          </a:p>
        </p:txBody>
      </p:sp>
      <p:sp>
        <p:nvSpPr>
          <p:cNvPr id="38" name="Text 35"/>
          <p:cNvSpPr/>
          <p:nvPr/>
        </p:nvSpPr>
        <p:spPr>
          <a:xfrm>
            <a:off x="7315274" y="1831330"/>
            <a:ext cx="1111017" cy="6048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3960" dirty="0"/>
          </a:p>
        </p:txBody>
      </p:sp>
      <p:sp>
        <p:nvSpPr>
          <p:cNvPr id="40" name="Text 37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6B706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8457902" y="4810571"/>
            <a:ext cx="235922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</a:t>
            </a:r>
            <a:endParaRPr lang="en-US" sz="83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1A1C0A6-E35C-4F52-B8D6-3897247CD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52" y="1831329"/>
            <a:ext cx="3181514" cy="229267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42240AD-7F29-47FA-8E57-CAC225FC195C}"/>
              </a:ext>
            </a:extLst>
          </p:cNvPr>
          <p:cNvSpPr txBox="1"/>
          <p:nvPr/>
        </p:nvSpPr>
        <p:spPr>
          <a:xfrm>
            <a:off x="4810597" y="1548195"/>
            <a:ext cx="26496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line chart shows the total ride time for each drop location.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helps us compare the ride duration across different drop locations and identify which locations have the highest and lowest total ride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6741"/>
            <a:ext cx="9144000" cy="976312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4" name="Shape 1"/>
          <p:cNvSpPr/>
          <p:nvPr/>
        </p:nvSpPr>
        <p:spPr>
          <a:xfrm>
            <a:off x="641152" y="725760"/>
            <a:ext cx="57150" cy="57150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5" name="Text 2"/>
          <p:cNvSpPr/>
          <p:nvPr/>
        </p:nvSpPr>
        <p:spPr>
          <a:xfrm>
            <a:off x="772567" y="673373"/>
            <a:ext cx="1076288" cy="1571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5"/>
              </a:spcAft>
              <a:buNone/>
            </a:pPr>
            <a:r>
              <a:rPr lang="en-US" sz="900" b="1" kern="0" spc="144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 / CLOSE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35" y="906735"/>
            <a:ext cx="2070467" cy="4524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950" b="1" kern="0" spc="-103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CONCLUSION</a:t>
            </a:r>
            <a:endParaRPr lang="en-US" sz="2950" dirty="0"/>
          </a:p>
        </p:txBody>
      </p:sp>
      <p:sp>
        <p:nvSpPr>
          <p:cNvPr id="7" name="Text 4"/>
          <p:cNvSpPr/>
          <p:nvPr/>
        </p:nvSpPr>
        <p:spPr>
          <a:xfrm>
            <a:off x="640035" y="1563216"/>
            <a:ext cx="4324953" cy="4283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Rapido dataset provides useful information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about ride bookings and performance.</a:t>
            </a:r>
            <a:endParaRPr lang="en-US" sz="1190" dirty="0"/>
          </a:p>
        </p:txBody>
      </p:sp>
      <p:sp>
        <p:nvSpPr>
          <p:cNvPr id="8" name="Text 5"/>
          <p:cNvSpPr/>
          <p:nvPr/>
        </p:nvSpPr>
        <p:spPr>
          <a:xfrm>
            <a:off x="640035" y="2155031"/>
            <a:ext cx="4739960" cy="4283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BI helps convert raw ride data into meaningful</a:t>
            </a:r>
            <a:endParaRPr lang="en-US" sz="1190" dirty="0"/>
          </a:p>
          <a:p>
            <a:pPr marL="0" indent="0" algn="l">
              <a:lnSpc>
                <a:spcPts val="1725"/>
              </a:lnSpc>
              <a:buNone/>
            </a:pPr>
            <a:r>
              <a:rPr lang="en-US" sz="1190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 insights.</a:t>
            </a:r>
            <a:endParaRPr lang="en-US" sz="1190" dirty="0"/>
          </a:p>
        </p:txBody>
      </p:sp>
      <p:sp>
        <p:nvSpPr>
          <p:cNvPr id="9" name="Shape 6"/>
          <p:cNvSpPr/>
          <p:nvPr/>
        </p:nvSpPr>
        <p:spPr>
          <a:xfrm>
            <a:off x="4846327" y="1562174"/>
            <a:ext cx="3657600" cy="1304925"/>
          </a:xfrm>
          <a:prstGeom prst="rect">
            <a:avLst/>
          </a:prstGeom>
        </p:spPr>
      </p:sp>
      <p:sp>
        <p:nvSpPr>
          <p:cNvPr id="10" name="Text 7"/>
          <p:cNvSpPr/>
          <p:nvPr/>
        </p:nvSpPr>
        <p:spPr>
          <a:xfrm>
            <a:off x="5216798" y="1567979"/>
            <a:ext cx="3485458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b="1" kern="0" spc="99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 MAKES IT EASIER TO MONITOR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5216798" y="1828502"/>
            <a:ext cx="813837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Bookings</a:t>
            </a:r>
            <a:endParaRPr lang="en-US" sz="1040" dirty="0"/>
          </a:p>
        </p:txBody>
      </p:sp>
      <p:sp>
        <p:nvSpPr>
          <p:cNvPr id="12" name="Text 9"/>
          <p:cNvSpPr/>
          <p:nvPr/>
        </p:nvSpPr>
        <p:spPr>
          <a:xfrm>
            <a:off x="6860381" y="1828502"/>
            <a:ext cx="772723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5216798" y="2109639"/>
            <a:ext cx="963975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Customers</a:t>
            </a:r>
            <a:endParaRPr lang="en-US" sz="1040" dirty="0"/>
          </a:p>
        </p:txBody>
      </p:sp>
      <p:sp>
        <p:nvSpPr>
          <p:cNvPr id="14" name="Text 11"/>
          <p:cNvSpPr/>
          <p:nvPr/>
        </p:nvSpPr>
        <p:spPr>
          <a:xfrm>
            <a:off x="6860381" y="2109639"/>
            <a:ext cx="635838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Drivers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5216798" y="2390775"/>
            <a:ext cx="745540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Vehicles</a:t>
            </a:r>
            <a:endParaRPr lang="en-US" sz="1040" dirty="0"/>
          </a:p>
        </p:txBody>
      </p:sp>
      <p:sp>
        <p:nvSpPr>
          <p:cNvPr id="16" name="Text 13"/>
          <p:cNvSpPr/>
          <p:nvPr/>
        </p:nvSpPr>
        <p:spPr>
          <a:xfrm>
            <a:off x="6860381" y="2390775"/>
            <a:ext cx="871880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Payments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5216798" y="2671911"/>
            <a:ext cx="1516060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Ride performance</a:t>
            </a:r>
            <a:endParaRPr lang="en-US" sz="1040" dirty="0"/>
          </a:p>
        </p:txBody>
      </p:sp>
      <p:sp>
        <p:nvSpPr>
          <p:cNvPr id="19" name="Text 15"/>
          <p:cNvSpPr/>
          <p:nvPr/>
        </p:nvSpPr>
        <p:spPr>
          <a:xfrm>
            <a:off x="1069777" y="3277642"/>
            <a:ext cx="7348701" cy="18097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35"/>
              </a:spcBef>
              <a:buNone/>
            </a:pPr>
            <a:r>
              <a:rPr lang="en-US" sz="1040" b="1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040" dirty="0"/>
          </a:p>
        </p:txBody>
      </p:sp>
      <p:sp>
        <p:nvSpPr>
          <p:cNvPr id="20" name="Text 16"/>
          <p:cNvSpPr/>
          <p:nvPr/>
        </p:nvSpPr>
        <p:spPr>
          <a:xfrm>
            <a:off x="6716241" y="3796754"/>
            <a:ext cx="1111597" cy="5476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1" name="Text 17"/>
          <p:cNvSpPr/>
          <p:nvPr/>
        </p:nvSpPr>
        <p:spPr>
          <a:xfrm>
            <a:off x="6716241" y="4162499"/>
            <a:ext cx="1571007" cy="5476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2" name="Text 18"/>
          <p:cNvSpPr/>
          <p:nvPr/>
        </p:nvSpPr>
        <p:spPr>
          <a:xfrm>
            <a:off x="6716241" y="4528245"/>
            <a:ext cx="2262299" cy="54768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8453363" y="4810571"/>
            <a:ext cx="241823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</a:t>
            </a:r>
            <a:endParaRPr lang="en-US" sz="83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6327" y="1562174"/>
            <a:ext cx="3657600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97235" y="-1462980"/>
            <a:ext cx="4572000" cy="4572000"/>
          </a:xfrm>
          <a:prstGeom prst="ellipse">
            <a:avLst/>
          </a:prstGeom>
          <a:ln w="4763">
            <a:solidFill>
              <a:srgbClr val="F7C948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456754" y="-822499"/>
            <a:ext cx="3290887" cy="3290887"/>
          </a:xfrm>
          <a:prstGeom prst="ellipse">
            <a:avLst/>
          </a:prstGeom>
          <a:ln w="4763">
            <a:solidFill>
              <a:srgbClr val="F7C948">
                <a:alpha val="333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966" y="923292"/>
            <a:ext cx="66675" cy="66675"/>
          </a:xfrm>
          <a:prstGeom prst="rect">
            <a:avLst/>
          </a:prstGeom>
          <a:solidFill>
            <a:srgbClr val="F7C948"/>
          </a:solidFill>
        </p:spPr>
      </p:sp>
      <p:sp>
        <p:nvSpPr>
          <p:cNvPr id="7" name="Text 4"/>
          <p:cNvSpPr/>
          <p:nvPr/>
        </p:nvSpPr>
        <p:spPr>
          <a:xfrm>
            <a:off x="799951" y="879128"/>
            <a:ext cx="2138474" cy="152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kern="0" spc="15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</a:t>
            </a:r>
            <a:endParaRPr lang="en-US" sz="860" dirty="0"/>
          </a:p>
        </p:txBody>
      </p:sp>
      <p:sp>
        <p:nvSpPr>
          <p:cNvPr id="8" name="Text 5"/>
          <p:cNvSpPr/>
          <p:nvPr/>
        </p:nvSpPr>
        <p:spPr>
          <a:xfrm>
            <a:off x="640035" y="1119932"/>
            <a:ext cx="2394734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25"/>
              </a:spcBef>
              <a:buNone/>
            </a:pPr>
            <a:r>
              <a:rPr lang="en-US" sz="6480" b="1" kern="0" spc="-324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THANK</a:t>
            </a:r>
            <a:endParaRPr lang="en-US" sz="6480" dirty="0"/>
          </a:p>
        </p:txBody>
      </p:sp>
      <p:sp>
        <p:nvSpPr>
          <p:cNvPr id="9" name="Text 6"/>
          <p:cNvSpPr/>
          <p:nvPr/>
        </p:nvSpPr>
        <p:spPr>
          <a:xfrm>
            <a:off x="640035" y="1761827"/>
            <a:ext cx="1397652" cy="990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25"/>
              </a:spcBef>
              <a:buNone/>
            </a:pPr>
            <a:r>
              <a:rPr lang="en-US" sz="6480" b="1" kern="0" spc="-324" dirty="0">
                <a:solidFill>
                  <a:srgbClr val="F7F4ED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YOU</a:t>
            </a:r>
            <a:endParaRPr lang="en-US" sz="6480" dirty="0"/>
          </a:p>
        </p:txBody>
      </p:sp>
      <p:sp>
        <p:nvSpPr>
          <p:cNvPr id="10" name="Text 7"/>
          <p:cNvSpPr/>
          <p:nvPr/>
        </p:nvSpPr>
        <p:spPr>
          <a:xfrm>
            <a:off x="640035" y="2846636"/>
            <a:ext cx="2034094" cy="2524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25"/>
              </a:spcBef>
              <a:buNone/>
            </a:pPr>
            <a:r>
              <a:rPr lang="en-US" sz="14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by: </a:t>
            </a:r>
            <a:r>
              <a:rPr lang="en-US" sz="1440" b="1" dirty="0" err="1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Abinaya</a:t>
            </a:r>
            <a:r>
              <a:rPr lang="en-US" sz="1440" b="1" dirty="0">
                <a:solidFill>
                  <a:srgbClr val="D8DCC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J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640035" y="3167658"/>
            <a:ext cx="3068322" cy="1762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10" kern="0" spc="121" dirty="0">
                <a:solidFill>
                  <a:srgbClr val="AEB6A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POWER BI DASHBOARD PROJECT</a:t>
            </a:r>
            <a:endParaRPr lang="en-US" sz="101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74" y="1543050"/>
            <a:ext cx="292596" cy="2925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74" y="1980381"/>
            <a:ext cx="2027709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12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raw ride data to a</a:t>
            </a:r>
            <a:endParaRPr lang="en-US" sz="1120" dirty="0"/>
          </a:p>
        </p:txBody>
      </p:sp>
      <p:sp>
        <p:nvSpPr>
          <p:cNvPr id="14" name="Text 10"/>
          <p:cNvSpPr/>
          <p:nvPr/>
        </p:nvSpPr>
        <p:spPr>
          <a:xfrm>
            <a:off x="6400874" y="2157561"/>
            <a:ext cx="2107518" cy="195263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1120" b="1" dirty="0">
                <a:solidFill>
                  <a:srgbClr val="11130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clearer view of mobility.</a:t>
            </a:r>
            <a:endParaRPr lang="en-US" sz="1120" dirty="0"/>
          </a:p>
        </p:txBody>
      </p:sp>
      <p:sp>
        <p:nvSpPr>
          <p:cNvPr id="15" name="Text 11"/>
          <p:cNvSpPr/>
          <p:nvPr/>
        </p:nvSpPr>
        <p:spPr>
          <a:xfrm>
            <a:off x="548580" y="4810571"/>
            <a:ext cx="356633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B7BC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RAPIDO RIDE ANALYSIS | POWER BI PROJECT | ABI</a:t>
            </a:r>
            <a:endParaRPr lang="en-US" sz="830" dirty="0"/>
          </a:p>
        </p:txBody>
      </p:sp>
      <p:sp>
        <p:nvSpPr>
          <p:cNvPr id="16" name="Text 12"/>
          <p:cNvSpPr/>
          <p:nvPr/>
        </p:nvSpPr>
        <p:spPr>
          <a:xfrm>
            <a:off x="8465865" y="4810571"/>
            <a:ext cx="225571" cy="14763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kern="0" spc="66" dirty="0">
                <a:solidFill>
                  <a:srgbClr val="F7C94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1830</Words>
  <Application>Microsoft Office PowerPoint</Application>
  <PresentationFormat>On-screen Show (16:9)</PresentationFormat>
  <Paragraphs>373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Barlow Condensed</vt:lpstr>
      <vt:lpstr>Calibri</vt:lpstr>
      <vt:lpstr>Calibri (Body)</vt:lpstr>
      <vt:lpstr>Calibri body</vt:lpstr>
      <vt:lpstr>Calibri Light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Thiyaga R</cp:lastModifiedBy>
  <cp:revision>39</cp:revision>
  <dcterms:created xsi:type="dcterms:W3CDTF">2026-09-29T09:14:00Z</dcterms:created>
  <dcterms:modified xsi:type="dcterms:W3CDTF">2026-10-01T07:12:51Z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09EE620A2C904382A79AF353BC56463B_13</vt:lpwstr>
  </property>
  <property fmtid="{D5CDD505-2E9C-101B-9397-08002B2CF9AE}" pid="3" name="KSOProductBuildVer">
    <vt:lpwstr>1033-12.1.0.28485</vt:lpwstr>
  </property>
</Properties>
</file>